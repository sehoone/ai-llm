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LLM Orchestration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029968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Platform v2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아키텍처 소개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7132320" cy="13716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2026.09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868680"/>
            <a:ext cx="36576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046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" y="8046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목 차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99616"/>
            <a:ext cx="22860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49961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도입 효과 &amp; 확장성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22860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7190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920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토큰 사용량 관리 대시보드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340864"/>
            <a:ext cx="22860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13969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234086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외부 고객사 AI 서비스 제공 비전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761488"/>
            <a:ext cx="22860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5603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27614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채팅 아티팩트  —  동작 원리 &amp; 공유 흐름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182112"/>
            <a:ext cx="22860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98094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05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31821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단계별 제공 서비스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602736"/>
            <a:ext cx="22860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40156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06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60273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투입 공수 (MM)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023360"/>
            <a:ext cx="2286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8221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07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0233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전체 시스템 구성도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443984"/>
            <a:ext cx="2286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242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08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444398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서비스 인터랙션 맵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00600" y="1499616"/>
            <a:ext cx="2286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129844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09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149961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기술 스택 구성도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00600" y="1920240"/>
            <a:ext cx="2286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17190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10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92040" y="1920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서비스별 상세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00600" y="2340864"/>
            <a:ext cx="2286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213969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11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92040" y="234086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서비스 흐름도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800600" y="2761488"/>
            <a:ext cx="2286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Text 39"/>
          <p:cNvSpPr/>
          <p:nvPr/>
        </p:nvSpPr>
        <p:spPr>
          <a:xfrm>
            <a:off x="4892040" y="256032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12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92040" y="27614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JWT &amp; 인증 흐름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800600" y="3182112"/>
            <a:ext cx="2286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2"/>
          <p:cNvSpPr/>
          <p:nvPr/>
        </p:nvSpPr>
        <p:spPr>
          <a:xfrm>
            <a:off x="4892040" y="298094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13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92040" y="31821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데이터 레이어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800600" y="3602736"/>
            <a:ext cx="2286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45"/>
          <p:cNvSpPr/>
          <p:nvPr/>
        </p:nvSpPr>
        <p:spPr>
          <a:xfrm>
            <a:off x="4892040" y="340156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14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92040" y="360273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운영·관찰가능성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800600" y="4023360"/>
            <a:ext cx="2286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4892040" y="38221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15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92040" y="40233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배포 전략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800600" y="4443984"/>
            <a:ext cx="2286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Text 51"/>
          <p:cNvSpPr/>
          <p:nvPr/>
        </p:nvSpPr>
        <p:spPr>
          <a:xfrm>
            <a:off x="4892040" y="4242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16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92040" y="444398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핵심 설계 결정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● 01–06  관리자 중점 섹션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868680"/>
            <a:ext cx="36576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046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" y="8046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도입 효과 &amp; 확장성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6187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도입 배경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536192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36192"/>
            <a:ext cx="36576" cy="12618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58191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기존 외부 LLM 솔루션  (도입 전)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1892808"/>
            <a:ext cx="3246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✕  외부 솔루션 의존 — 업무 요구에 맞는 커스텀 불가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112264"/>
            <a:ext cx="3246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✕  기능 수정·추가 시 벤더 협의 필요, 속도 저하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331720"/>
            <a:ext cx="3246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✕  보수·운영 비용 통제 어려움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551176"/>
            <a:ext cx="32461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✕  AI 기술 노하우가 외부에만 축적, 내부 전문성 부재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05072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462272" y="1536192"/>
            <a:ext cx="4224528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62272" y="1536192"/>
            <a:ext cx="36576" cy="12618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4599432" y="1581912"/>
            <a:ext cx="3950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자체 LLM 플랫폼 도입  (도입 후)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99432" y="1892808"/>
            <a:ext cx="395020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✓  요구사항에 맞게 즉시 커스텀 — 완전한 제어권 확보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99432" y="2112264"/>
            <a:ext cx="395020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✓  기능 추가·보수를 내부에서 자율적으로 대응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99432" y="2331720"/>
            <a:ext cx="395020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✓  모델·비용·API 키 직접 관리로 운영 비용 절감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99432" y="2551176"/>
            <a:ext cx="395020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✓  플랫폼 직접 운영으로 AI 기술 내재화 및 전문성 축적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9260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도입 효과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145536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218688"/>
            <a:ext cx="193852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218688"/>
            <a:ext cx="1938528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319272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커스텀 자유도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3611880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업무 특화 기능을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즉시 구현·수정 가능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42032" y="3218688"/>
            <a:ext cx="193852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42032" y="3218688"/>
            <a:ext cx="1938528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2542032" y="3319272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개발 생산성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542032" y="3611880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공통 파이프라인 재사용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신규 기능 출시 단축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26864" y="3218688"/>
            <a:ext cx="193852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26864" y="3218688"/>
            <a:ext cx="1938528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4626864" y="3319272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운영 비용 절감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26864" y="3611880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모델·API 키 직접 관리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중복 인프라 제거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11696" y="3218688"/>
            <a:ext cx="193852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11696" y="3218688"/>
            <a:ext cx="1938528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6711696" y="3319272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AI 전문화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11696" y="3611880"/>
            <a:ext cx="19385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플랫폼 운영을 통한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내부 AI 역량 내재화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251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확장 로드맵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4453128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Shape 42"/>
          <p:cNvSpPr/>
          <p:nvPr/>
        </p:nvSpPr>
        <p:spPr>
          <a:xfrm>
            <a:off x="457200" y="4526280"/>
            <a:ext cx="19385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" y="4526280"/>
            <a:ext cx="36576" cy="4572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6" name="Text 44"/>
          <p:cNvSpPr/>
          <p:nvPr/>
        </p:nvSpPr>
        <p:spPr>
          <a:xfrm>
            <a:off x="585216" y="456285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1단계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234440" y="4562856"/>
            <a:ext cx="1078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단일 서버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395728" y="4590288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›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2542032" y="4526280"/>
            <a:ext cx="19385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42032" y="4526280"/>
            <a:ext cx="36576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1" name="Text 49"/>
          <p:cNvSpPr/>
          <p:nvPr/>
        </p:nvSpPr>
        <p:spPr>
          <a:xfrm>
            <a:off x="2670048" y="456285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2단계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319272" y="4562856"/>
            <a:ext cx="1078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멀티 서버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480560" y="4590288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›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626864" y="4526280"/>
            <a:ext cx="19385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26864" y="4526280"/>
            <a:ext cx="36576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6" name="Text 54"/>
          <p:cNvSpPr/>
          <p:nvPr/>
        </p:nvSpPr>
        <p:spPr>
          <a:xfrm>
            <a:off x="4754880" y="456285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3단계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404104" y="4562856"/>
            <a:ext cx="1078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Kubernetes HA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565392" y="4590288"/>
            <a:ext cx="1645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E8F0"/>
                </a:solidFill>
              </a:rPr>
              <a:t>›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711696" y="4526280"/>
            <a:ext cx="19385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11696" y="4526280"/>
            <a:ext cx="36576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1" name="Text 59"/>
          <p:cNvSpPr/>
          <p:nvPr/>
        </p:nvSpPr>
        <p:spPr>
          <a:xfrm>
            <a:off x="6839712" y="456285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4단계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488936" y="4562856"/>
            <a:ext cx="1078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글로벌 배포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868680"/>
            <a:ext cx="36576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046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" y="8046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토큰 사용량 관리  —  수집 &amp; 처리 방식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280160"/>
            <a:ext cx="8412480" cy="384048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16736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LLM API 응답에 포함된 토큰 정보를 서비스·모델·사용자별로 자동 기록하고, 관리자 대시보드에서 기간별·서비스별로 집계합니다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048" y="1773936"/>
            <a:ext cx="1591056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7780">
            <a:solidFill>
              <a:srgbClr val="4755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773936"/>
            <a:ext cx="1591056" cy="54864"/>
          </a:xfrm>
          <a:prstGeom prst="roundRect">
            <a:avLst>
              <a:gd name="adj" fmla="val 116667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8408" y="1883664"/>
            <a:ext cx="402336" cy="402336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18836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" y="2359152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사용자 요청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2596896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채팅·RAG·에이전트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요청 입력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" y="2944368"/>
            <a:ext cx="1408176" cy="16459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944368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chatbot / rag / agent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975104" y="2459736"/>
            <a:ext cx="59436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034540" y="1773936"/>
            <a:ext cx="1591056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7780">
            <a:solidFill>
              <a:srgbClr val="0596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34540" y="1773936"/>
            <a:ext cx="1591056" cy="54864"/>
          </a:xfrm>
          <a:prstGeom prst="roundRect">
            <a:avLst>
              <a:gd name="adj" fmla="val 11666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28900" y="1883664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28900" y="18836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034540" y="2359152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LLM API 호출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34540" y="2596896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orchestrator →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OpenAI API 호출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125980" y="2944368"/>
            <a:ext cx="1408176" cy="16459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762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25980" y="2944368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gpt-4o / gpt-4o-mini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625596" y="2459736"/>
            <a:ext cx="59436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685032" y="1773936"/>
            <a:ext cx="1591056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85032" y="1773936"/>
            <a:ext cx="1591056" cy="54864"/>
          </a:xfrm>
          <a:prstGeom prst="roundRect">
            <a:avLst>
              <a:gd name="adj" fmla="val 1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79392" y="1883664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79392" y="18836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85032" y="2359152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사용량 수신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85032" y="2596896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API 응답에서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tokens 자동 추출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776472" y="2944368"/>
            <a:ext cx="1408176" cy="16459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762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76472" y="2944368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+ completion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276088" y="2459736"/>
            <a:ext cx="59436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335524" y="1773936"/>
            <a:ext cx="1591056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35524" y="1773936"/>
            <a:ext cx="1591056" cy="54864"/>
          </a:xfrm>
          <a:prstGeom prst="roundRect">
            <a:avLst>
              <a:gd name="adj" fmla="val 1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29884" y="1883664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29884" y="18836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35524" y="2359152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DB + 트레이싱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35524" y="2596896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llm_usage_log 저장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Langfuse 트레이싱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426964" y="2944368"/>
            <a:ext cx="1408176" cy="16459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26964" y="2944368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cost_usd 자동 계산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926580" y="2459736"/>
            <a:ext cx="59436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986016" y="1773936"/>
            <a:ext cx="1591056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86016" y="1773936"/>
            <a:ext cx="1591056" cy="54864"/>
          </a:xfrm>
          <a:prstGeom prst="roundRect">
            <a:avLst>
              <a:gd name="adj" fmla="val 1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80376" y="1883664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80376" y="18836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5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986016" y="2359152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관리자 집계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986016" y="2596896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Admin API →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대시보드 시각화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077456" y="2944368"/>
            <a:ext cx="1408176" cy="16459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77456" y="2944368"/>
            <a:ext cx="14081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서비스·모델·기간별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384048" y="3255264"/>
            <a:ext cx="4187952" cy="1682496"/>
          </a:xfrm>
          <a:prstGeom prst="roundRect">
            <a:avLst>
              <a:gd name="adj" fmla="val 3261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84048" y="3255264"/>
            <a:ext cx="4187952" cy="27432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84048" y="3392424"/>
            <a:ext cx="4187952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6" name="Text 54"/>
          <p:cNvSpPr/>
          <p:nvPr/>
        </p:nvSpPr>
        <p:spPr>
          <a:xfrm>
            <a:off x="512064" y="32918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llm_usage_log  —  저장 데이터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30352" y="3602736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139696" y="3602736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chatbot  |  rag  |  agent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30352" y="3794760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139696" y="3794760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gpt-4o  |  gpt-4o-mini  |  embedding-3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30352" y="3986784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2139696" y="3986784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요청한 사용자 식별자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30352" y="4178808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prompt_tokens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2139696" y="4178808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입력 토큰 수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30352" y="4370832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completion_tokens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2139696" y="4370832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출력 토큰 수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30352" y="4562856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cost_usd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2139696" y="4562856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모델 단가 × 토큰 수 자동 계산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30352" y="4754880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2139696" y="4754880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요청 타임스탬프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754880" y="3255264"/>
            <a:ext cx="4005072" cy="1682496"/>
          </a:xfrm>
          <a:prstGeom prst="roundRect">
            <a:avLst>
              <a:gd name="adj" fmla="val 3261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754880" y="3255264"/>
            <a:ext cx="4005072" cy="2743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754880" y="3392424"/>
            <a:ext cx="4005072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4" name="Text 72"/>
          <p:cNvSpPr/>
          <p:nvPr/>
        </p:nvSpPr>
        <p:spPr>
          <a:xfrm>
            <a:off x="4882896" y="32918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관리자 대시보드  —  집계 기준 4가지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864608" y="369417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065776" y="362102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서비스별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5943600" y="3657600"/>
            <a:ext cx="2706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채팅 / RAG / 에이전트 각각의 사용량 비교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4864608" y="4023360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65776" y="395020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모델별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5943600" y="3986784"/>
            <a:ext cx="2706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GPT-4o vs GPT-4o-mini 비용·토큰 분석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864608" y="4352544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065776" y="427939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사용자별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5943600" y="4315968"/>
            <a:ext cx="2706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팀원별 상위 사용자 현황 확인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4864608" y="4681728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065776" y="460857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기간별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5943600" y="4645152"/>
            <a:ext cx="2706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일·주·월 트렌드 및 전기 대비 증감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868680"/>
            <a:ext cx="36576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046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" y="8046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토큰 사용량 관리  —  관리자 대시보드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261872"/>
            <a:ext cx="85039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61872"/>
            <a:ext cx="8503920" cy="219456"/>
          </a:xfrm>
          <a:prstGeom prst="roundRect">
            <a:avLst>
              <a:gd name="adj" fmla="val 33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371600"/>
            <a:ext cx="8503920" cy="10972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298448"/>
            <a:ext cx="12801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</a:rPr>
              <a:t>●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76072" y="1298448"/>
            <a:ext cx="12801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</a:rPr>
              <a:t>●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298448"/>
            <a:ext cx="12801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</a:rPr>
              <a:t>●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923544" y="1307592"/>
            <a:ext cx="4572000" cy="128016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1307592"/>
            <a:ext cx="44805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https://admin.yourcompany.com/analytics/tokens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320040" y="1481328"/>
            <a:ext cx="8503920" cy="31089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" y="154533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Admin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325880" y="15453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사용자 관리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14600" y="15453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LLM 리소스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703320" y="15453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토큰 사용량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703320" y="1755648"/>
            <a:ext cx="109728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54533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API 키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1792224"/>
            <a:ext cx="850392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" y="2057400"/>
            <a:ext cx="850392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448056" y="1856232"/>
            <a:ext cx="502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기간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60120" y="1847088"/>
            <a:ext cx="100584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" y="1856232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이번달  ▾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203704" y="1856232"/>
            <a:ext cx="502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서비스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15768" y="1847088"/>
            <a:ext cx="100584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52344" y="1856232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전체  ▾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703320" y="1856232"/>
            <a:ext cx="502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모델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215384" y="1847088"/>
            <a:ext cx="100584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1856232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전체  ▾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4632" y="2121408"/>
            <a:ext cx="263347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" y="2121408"/>
            <a:ext cx="2633472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576072" y="2212848"/>
            <a:ext cx="2450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이번달 총 토큰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76072" y="2377440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2,400K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76072" y="2615184"/>
            <a:ext cx="2450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전월 대비  +18%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227832" y="2121408"/>
            <a:ext cx="263347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27832" y="2121408"/>
            <a:ext cx="2633472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3319272" y="2212848"/>
            <a:ext cx="2450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예상 비용 (USD)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319272" y="2377440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$48.50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319272" y="2615184"/>
            <a:ext cx="2450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GPT-4o 기준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971032" y="2121408"/>
            <a:ext cx="2633472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71032" y="2121408"/>
            <a:ext cx="2633472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5" name="Text 43"/>
          <p:cNvSpPr/>
          <p:nvPr/>
        </p:nvSpPr>
        <p:spPr>
          <a:xfrm>
            <a:off x="6062472" y="2212848"/>
            <a:ext cx="2450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총 API 호출 수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062472" y="2377440"/>
            <a:ext cx="24505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1,280건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062472" y="2615184"/>
            <a:ext cx="2450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일평균  42건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11480" y="2816352"/>
            <a:ext cx="4956048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1208" y="2889504"/>
            <a:ext cx="4773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서비스별 토큰 사용량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21208" y="32186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LLM 채팅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581912" y="3246120"/>
            <a:ext cx="3383280" cy="18288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581912" y="3246120"/>
            <a:ext cx="2029968" cy="18288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38344" y="32186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1,440K  (60%)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21208" y="363931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RAG 검색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581912" y="3666744"/>
            <a:ext cx="3383280" cy="18288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581912" y="3666744"/>
            <a:ext cx="1014984" cy="18288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38344" y="363931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  720K  (30%)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21208" y="405993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AI 에이전트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581912" y="4087368"/>
            <a:ext cx="3383280" cy="18288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581912" y="4087368"/>
            <a:ext cx="338328" cy="18288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38344" y="405993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  240K  (10%)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477256" y="2816352"/>
            <a:ext cx="3163824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86984" y="2889504"/>
            <a:ext cx="29809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모델별 사용량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550408" y="3163824"/>
            <a:ext cx="3017520" cy="21945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5" name="Text 63"/>
          <p:cNvSpPr/>
          <p:nvPr/>
        </p:nvSpPr>
        <p:spPr>
          <a:xfrm>
            <a:off x="5605272" y="3200400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모델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812280" y="3200400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토큰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671816" y="3200400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비용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550408" y="3419856"/>
            <a:ext cx="301752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9" name="Shape 67"/>
          <p:cNvSpPr/>
          <p:nvPr/>
        </p:nvSpPr>
        <p:spPr>
          <a:xfrm>
            <a:off x="5605272" y="351129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751576" y="34564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gpt-4o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812280" y="3456432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1.80M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7671816" y="3456432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$36.00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605272" y="385876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751576" y="38039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gpt-4o-mini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812280" y="3803904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0.45M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7671816" y="3803904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$0.90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550408" y="4114800"/>
            <a:ext cx="3017520" cy="32918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8" name="Shape 76"/>
          <p:cNvSpPr/>
          <p:nvPr/>
        </p:nvSpPr>
        <p:spPr>
          <a:xfrm>
            <a:off x="5605272" y="420624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751576" y="415137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embedding-3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6812280" y="4151376"/>
            <a:ext cx="768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0.15M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7671816" y="4151376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$0.02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11480" y="4517136"/>
            <a:ext cx="83210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21208" y="457200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상위 사용자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1737360" y="4562856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1.  김민준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1737360" y="4736592"/>
            <a:ext cx="1737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LLM 채팅  ·  245K  ·  $4.90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3566160" y="4562856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2.  이지은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3566160" y="4736592"/>
            <a:ext cx="1737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RAG 검색  ·  182K  ·  $3.64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5394960" y="4562856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3.  박서현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5394960" y="4736592"/>
            <a:ext cx="1737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LLM 채팅  ·  156K  ·  $3.12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7223760" y="4562856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4.  최준호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7223760" y="4736592"/>
            <a:ext cx="1737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AI 에이전트  ·  98K  ·  $1.96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868680"/>
            <a:ext cx="36576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046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" y="8046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외부 고객사 AI 서비스 제공 비전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98448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98448"/>
            <a:ext cx="36576" cy="6217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3716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Claude for Work 같은 AI 어시스턴트를 — 고객사 사내에서 바로 사용할 수 있도록 제공합니다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084832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84832"/>
            <a:ext cx="237744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762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우리 LLM 오케스트레이션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플랫폼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6517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·  인증 · API 키 관리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285292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·  LLM 채팅 · RAG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305409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·  AI 에이전트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325526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·  모니터링 · 분석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834640" y="2450592"/>
            <a:ext cx="36576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246120" y="1993392"/>
            <a:ext cx="169164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202996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고객사 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60520" y="204825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제조업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34640" y="2743200"/>
            <a:ext cx="36576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074920" y="2468880"/>
            <a:ext cx="169164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84648" y="2505456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고객사 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89320" y="25237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금융업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34640" y="3035808"/>
            <a:ext cx="365760" cy="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903720" y="2944368"/>
            <a:ext cx="1691640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13448" y="2980944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고객사 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818120" y="299923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IT 서비스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257800" y="1993392"/>
            <a:ext cx="3429000" cy="146304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57800" y="1993392"/>
            <a:ext cx="34290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5257800" y="207568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고객사 임직원이 경험하는 것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94960" y="235915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💬  LLM 채팅 — 업무 질문·문서 작성·요약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94960" y="263347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🔍  RAG — 사내 문서 기반 지식 검색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394960" y="290779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🤖  AI 에이전트 — 반복 업무 자동화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318211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📊  분석 대시보드 — 팀 사용량 현황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3657600"/>
            <a:ext cx="1938528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657600"/>
            <a:ext cx="1938528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767328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즉시 도입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4078224"/>
            <a:ext cx="1938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별도 AI 인프라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구축 불필요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542032" y="3657600"/>
            <a:ext cx="1938528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42032" y="3657600"/>
            <a:ext cx="1938528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2" name="Text 40"/>
          <p:cNvSpPr/>
          <p:nvPr/>
        </p:nvSpPr>
        <p:spPr>
          <a:xfrm>
            <a:off x="2542032" y="3767328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데이터 격리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542032" y="4078224"/>
            <a:ext cx="1938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고객사별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독립 운영 환경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26864" y="3657600"/>
            <a:ext cx="1938528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26864" y="3657600"/>
            <a:ext cx="1938528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6" name="Text 44"/>
          <p:cNvSpPr/>
          <p:nvPr/>
        </p:nvSpPr>
        <p:spPr>
          <a:xfrm>
            <a:off x="4626864" y="3767328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기능 완비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626864" y="4078224"/>
            <a:ext cx="1938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채팅·RAG·에이전트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즉시 사용 가능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11696" y="3657600"/>
            <a:ext cx="1938528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11696" y="3657600"/>
            <a:ext cx="1938528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0" name="Text 48"/>
          <p:cNvSpPr/>
          <p:nvPr/>
        </p:nvSpPr>
        <p:spPr>
          <a:xfrm>
            <a:off x="6711696" y="3767328"/>
            <a:ext cx="19385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비용 효율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711696" y="4078224"/>
            <a:ext cx="1938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공유 인프라로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운영 비용 절감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868680"/>
            <a:ext cx="36576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046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" y="8046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아티팩트  —  동작 원리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280160"/>
            <a:ext cx="8412480" cy="475488"/>
          </a:xfrm>
          <a:prstGeom prst="roundRect">
            <a:avLst>
              <a:gd name="adj" fmla="val 1153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16736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AI 채팅으로 생성된 결과물을 단순 텍스트가 아닌  —  화면(뷰)과 원본 데이터를 함께 저장하고 URL로 공유합니다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83664"/>
            <a:ext cx="1536192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7780">
            <a:solidFill>
              <a:srgbClr val="4755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83664"/>
            <a:ext cx="1536192" cy="54864"/>
          </a:xfrm>
          <a:prstGeom prst="roundRect">
            <a:avLst>
              <a:gd name="adj" fmla="val 116667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1993392"/>
            <a:ext cx="402336" cy="402336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993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468880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채팅 요청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706624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사용자가 AI에게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요청 입력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054096"/>
            <a:ext cx="1353312" cy="16459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762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54096"/>
            <a:ext cx="1353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"Q3 매출 차트  ·  만들어줘"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901952" y="2578608"/>
            <a:ext cx="73152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975104" y="1883664"/>
            <a:ext cx="1536192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7780">
            <a:solidFill>
              <a:srgbClr val="0596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75104" y="1883664"/>
            <a:ext cx="1536192" cy="54864"/>
          </a:xfrm>
          <a:prstGeom prst="roundRect">
            <a:avLst>
              <a:gd name="adj" fmla="val 11666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42032" y="1993392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42032" y="1993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975104" y="2468880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LLM 응답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75104" y="2706624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GPT-4o가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응답 스트리밍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066544" y="3054096"/>
            <a:ext cx="1353312" cy="16459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762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66544" y="3054096"/>
            <a:ext cx="1353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&lt;artifact&gt;  ·  블록 포함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511296" y="2578608"/>
            <a:ext cx="73152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584448" y="1883664"/>
            <a:ext cx="1536192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84448" y="1883664"/>
            <a:ext cx="1536192" cy="54864"/>
          </a:xfrm>
          <a:prstGeom prst="roundRect">
            <a:avLst>
              <a:gd name="adj" fmla="val 1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51376" y="1993392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51376" y="1993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584448" y="2468880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블록 감지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584448" y="2706624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스트림에서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아티팩트 블록 파싱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75888" y="3054096"/>
            <a:ext cx="1353312" cy="16459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762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75888" y="3054096"/>
            <a:ext cx="1353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view_content  ·  + raw_data 분리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120640" y="2578608"/>
            <a:ext cx="73152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193792" y="1883664"/>
            <a:ext cx="1536192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93792" y="1883664"/>
            <a:ext cx="1536192" cy="54864"/>
          </a:xfrm>
          <a:prstGeom prst="roundRect">
            <a:avLst>
              <a:gd name="adj" fmla="val 1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60720" y="1993392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0" y="1993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93792" y="2468880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이중 저장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93792" y="2706624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뷰와 데이터를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함께 DB에 저장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285232" y="3054096"/>
            <a:ext cx="1353312" cy="16459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85232" y="3054096"/>
            <a:ext cx="1353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 HTML  ·  + JSON rows[]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729984" y="2578608"/>
            <a:ext cx="73152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803136" y="1883664"/>
            <a:ext cx="1536192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7780">
            <a:solidFill>
              <a:srgbClr val="0891B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03136" y="1883664"/>
            <a:ext cx="1536192" cy="54864"/>
          </a:xfrm>
          <a:prstGeom prst="roundRect">
            <a:avLst>
              <a:gd name="adj" fmla="val 116667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70064" y="199339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70064" y="1993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5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803136" y="2468880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패널 표시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803136" y="2706624"/>
            <a:ext cx="1536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사이드패널에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시각화 렌더링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894576" y="3054096"/>
            <a:ext cx="1353312" cy="16459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94576" y="3054096"/>
            <a:ext cx="13533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iframe 렌더링  ·  + 데이터 탭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365760" y="3438144"/>
            <a:ext cx="4023360" cy="1463040"/>
          </a:xfrm>
          <a:prstGeom prst="roundRect">
            <a:avLst>
              <a:gd name="adj" fmla="val 37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5760" y="3438144"/>
            <a:ext cx="4023360" cy="292608"/>
          </a:xfrm>
          <a:prstGeom prst="roundRect">
            <a:avLst>
              <a:gd name="adj" fmla="val 18750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5760" y="3584448"/>
            <a:ext cx="4023360" cy="14630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6" name="Text 54"/>
          <p:cNvSpPr/>
          <p:nvPr/>
        </p:nvSpPr>
        <p:spPr>
          <a:xfrm>
            <a:off x="493776" y="347472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기존 AI 채팅  (ChatGPT / Claude.ai 방식)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12064" y="382219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✕  결과는 텍스트 메시지로만 전달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12064" y="415137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✕  공유하려면 스크린샷 또는 복사·붙여넣기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12064" y="448056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✕  원본 데이터 없음 — 재사용·가공 불가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407408" y="4169664"/>
            <a:ext cx="329184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4754880" y="3438144"/>
            <a:ext cx="4023360" cy="1463040"/>
          </a:xfrm>
          <a:prstGeom prst="roundRect">
            <a:avLst>
              <a:gd name="adj" fmla="val 3750"/>
            </a:avLst>
          </a:prstGeom>
          <a:solidFill>
            <a:srgbClr val="EFF6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754880" y="3438144"/>
            <a:ext cx="4023360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54880" y="3584448"/>
            <a:ext cx="4023360" cy="1463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4" name="Text 62"/>
          <p:cNvSpPr/>
          <p:nvPr/>
        </p:nvSpPr>
        <p:spPr>
          <a:xfrm>
            <a:off x="4882896" y="347472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아티팩트 시스템  (우리 플랫폼)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901184" y="382219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✓  뷰(차트·표)와 원본 데이터를 함께 저장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901184" y="415137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✓  고유 URL로 공유 — 로그인 없이 접근 가능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901184" y="448056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✓  CSV / Excel 다운로드 · 버전 관리 지원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868680"/>
            <a:ext cx="36576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046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" y="8046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아티팩트  —  공유 흐름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28016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80160"/>
            <a:ext cx="2697480" cy="329184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463040"/>
            <a:ext cx="2697480" cy="1463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" y="1335024"/>
            <a:ext cx="2532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송신자  (채팅 사용자)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28016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FAF5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280160"/>
            <a:ext cx="2697480" cy="329184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63040"/>
            <a:ext cx="2697480" cy="1463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3374136" y="1335024"/>
            <a:ext cx="25328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공유 URL  (Nginx 라우팅)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28016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F0FDF4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280160"/>
            <a:ext cx="2651760" cy="329184"/>
          </a:xfrm>
          <a:prstGeom prst="roundRect">
            <a:avLst>
              <a:gd name="adj" fmla="val 2222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463040"/>
            <a:ext cx="2651760" cy="14630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6300216" y="1335024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수신자  (외부 사람)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1719072"/>
            <a:ext cx="25146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1764792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💬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175564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채팅에서 AI에게 요청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(차트·보고서·앱 생성)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664208" y="2139696"/>
            <a:ext cx="0" cy="73152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11480" y="2212848"/>
            <a:ext cx="25146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258568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✨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2249424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아티팩트 생성 완료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사이드패널에 표시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664208" y="2633472"/>
            <a:ext cx="0" cy="73152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11480" y="2706624"/>
            <a:ext cx="25146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2752344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🔗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274320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"공유" 버튼 클릭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공유 범위 선택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664208" y="3127248"/>
            <a:ext cx="0" cy="73152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11480" y="3200400"/>
            <a:ext cx="25146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246120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📤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" y="3236976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고유 URL 생성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복사 후 상대방에게 전달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337560" y="1755648"/>
            <a:ext cx="25146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64992" y="181051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/share/{token}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64992" y="2048256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로그인 불필요  ·  공개 접근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337560" y="2322576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공유 범위 설정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337560" y="2560320"/>
            <a:ext cx="25146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37560" y="2560320"/>
            <a:ext cx="54864" cy="420624"/>
          </a:xfrm>
          <a:prstGeom prst="roundRect">
            <a:avLst>
              <a:gd name="adj" fmla="val 8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56432" y="26151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뷰 전용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456432" y="2798064"/>
            <a:ext cx="2240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화면만 확인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337560" y="3054096"/>
            <a:ext cx="25146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37560" y="3054096"/>
            <a:ext cx="54864" cy="420624"/>
          </a:xfrm>
          <a:prstGeom prst="roundRect">
            <a:avLst>
              <a:gd name="adj" fmla="val 8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56432" y="31089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데이터 포함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456432" y="3291840"/>
            <a:ext cx="2240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CSV/Excel 다운로드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337560" y="3547872"/>
            <a:ext cx="251460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37560" y="3547872"/>
            <a:ext cx="54864" cy="420624"/>
          </a:xfrm>
          <a:prstGeom prst="roundRect">
            <a:avLst>
              <a:gd name="adj" fmla="val 8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56432" y="360273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편집 가능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456432" y="3785616"/>
            <a:ext cx="2240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내부 사용자 공유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263640" y="1719072"/>
            <a:ext cx="246888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8890">
            <a:solidFill>
              <a:srgbClr val="05966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1764792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🔗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656832" y="1755648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URL 클릭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(로그인 불필요)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479792" y="2139696"/>
            <a:ext cx="0" cy="73152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6263640" y="2212848"/>
            <a:ext cx="246888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8890">
            <a:solidFill>
              <a:srgbClr val="05966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9360" y="2258568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656832" y="224942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뷰(차트·표) 확인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아티팩트 렌더링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479792" y="2633472"/>
            <a:ext cx="0" cy="73152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6263640" y="2706624"/>
            <a:ext cx="246888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8890">
            <a:solidFill>
              <a:srgbClr val="0596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9360" y="2752344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⬇️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656832" y="274320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데이터 다운로드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CSV / Excel (권한 시)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479792" y="3127248"/>
            <a:ext cx="0" cy="73152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6263640" y="3200400"/>
            <a:ext cx="246888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8890">
            <a:solidFill>
              <a:srgbClr val="05966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09360" y="3246120"/>
            <a:ext cx="3108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6656832" y="3236976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권한 없으면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화면만 열람 가능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017520" y="1993392"/>
            <a:ext cx="228600" cy="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5852160" y="1993392"/>
            <a:ext cx="320040" cy="0"/>
          </a:xfrm>
          <a:prstGeom prst="line">
            <a:avLst/>
          </a:prstGeom>
          <a:noFill/>
          <a:ln w="2032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320040" y="3877056"/>
            <a:ext cx="279806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0040" y="3877056"/>
            <a:ext cx="45720" cy="420624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38912" y="3931920"/>
            <a:ext cx="2523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아티팩트 생성 = 뷰 + 데이터 동시 저장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154680" y="3877056"/>
            <a:ext cx="279806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154680" y="3877056"/>
            <a:ext cx="45720" cy="420624"/>
          </a:xfrm>
          <a:prstGeom prst="roundRect">
            <a:avLst>
              <a:gd name="adj" fmla="val 10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73552" y="3931920"/>
            <a:ext cx="2523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공유 URL은 로그인 없이 접근 — Nginx /share/* 공개 라우팅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989320" y="3877056"/>
            <a:ext cx="279806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989320" y="3877056"/>
            <a:ext cx="45720" cy="420624"/>
          </a:xfrm>
          <a:prstGeom prst="roundRect">
            <a:avLst>
              <a:gd name="adj" fmla="val 10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108192" y="3931920"/>
            <a:ext cx="2523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권한(scope)에 따라 열람만 또는 데이터 다운로드까지 허용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868680"/>
            <a:ext cx="36576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046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" y="8046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채팅 서비스 UI  —  화면 설계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0" y="777240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0" y="7772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미구현 · 설계 단계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47472" y="1298448"/>
            <a:ext cx="8449056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298448"/>
            <a:ext cx="8449056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426464"/>
            <a:ext cx="8449056" cy="1280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1335024"/>
            <a:ext cx="146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</a:rPr>
              <a:t>●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21792" y="1335024"/>
            <a:ext cx="146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</a:rPr>
              <a:t>●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04672" y="1335024"/>
            <a:ext cx="146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59669"/>
                </a:solidFill>
              </a:rPr>
              <a:t>●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05840" y="1353312"/>
            <a:ext cx="4754880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1353312"/>
            <a:ext cx="4663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https://chat.yourcompany.com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47472" y="1554480"/>
            <a:ext cx="8449056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" y="16002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🤖  Company AI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47872" y="16184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GPT-4o  ▾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10528" y="161848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새 대화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260336" y="161848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설정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010144" y="161848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프로필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7472" y="1883664"/>
            <a:ext cx="1481328" cy="30723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0" y="1883664"/>
            <a:ext cx="9144" cy="307238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438912" y="1975104"/>
            <a:ext cx="1298448" cy="256032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197510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＋  새 대화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02336" y="2322576"/>
            <a:ext cx="1371600" cy="256032"/>
          </a:xfrm>
          <a:prstGeom prst="roundRect">
            <a:avLst>
              <a:gd name="adj" fmla="val 10714"/>
            </a:avLst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236829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오늘의 회의 요약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488" y="267919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Q3 매출 분석 차트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488" y="299008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사용자 가이드 작성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5488" y="330098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API 문서 정리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38912" y="4133088"/>
            <a:ext cx="1298448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438912" y="4178808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75569"/>
                </a:solidFill>
              </a:rPr>
              <a:t>📂  RAG 문서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38912" y="4389120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문서 5개 등록됨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38912" y="4590288"/>
            <a:ext cx="1298448" cy="201168"/>
          </a:xfrm>
          <a:prstGeom prst="roundRect">
            <a:avLst>
              <a:gd name="adj" fmla="val 1363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4590288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문서 관리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920240" y="1975104"/>
            <a:ext cx="3721608" cy="475488"/>
          </a:xfrm>
          <a:prstGeom prst="roundRect">
            <a:avLst>
              <a:gd name="adj" fmla="val 9615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38528" y="19933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🤖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157984" y="1975104"/>
            <a:ext cx="34015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안녕하세요! 무엇을 도와드릴까요? 문서 작성, 데이터 분석, 차트 생성 등을 도와드릴 수 있습니다.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560320" y="2542032"/>
            <a:ext cx="3401568" cy="292608"/>
          </a:xfrm>
          <a:prstGeom prst="roundRect">
            <a:avLst>
              <a:gd name="adj" fmla="val 1562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33472" y="2578608"/>
            <a:ext cx="32644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Q3 월별 매출 데이터로 차트 만들어줘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920240" y="2926080"/>
            <a:ext cx="3721608" cy="658368"/>
          </a:xfrm>
          <a:prstGeom prst="roundRect">
            <a:avLst>
              <a:gd name="adj" fmla="val 694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38528" y="29443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🤖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157984" y="2944368"/>
            <a:ext cx="34015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Q3 월별 매출 차트를 생성했습니다.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157984" y="3200400"/>
            <a:ext cx="3355848" cy="32004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31136" y="3236976"/>
            <a:ext cx="3218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📊  아티팩트 생성됨  —  Q3 매출 차트  (Bar Chart + raw_data)   →  우측 패널에서 확인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1828800" y="4416552"/>
            <a:ext cx="4224528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Shape 46"/>
          <p:cNvSpPr/>
          <p:nvPr/>
        </p:nvSpPr>
        <p:spPr>
          <a:xfrm>
            <a:off x="1920240" y="4507992"/>
            <a:ext cx="372160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29968" y="4562856"/>
            <a:ext cx="3035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메시지를 입력하세요...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632704" y="456285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📎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632704" y="456285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🎤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632704" y="4507992"/>
            <a:ext cx="329184" cy="329184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32704" y="45079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↑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053328" y="1883664"/>
            <a:ext cx="2743200" cy="30723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53328" y="1883664"/>
            <a:ext cx="9144" cy="307238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Shape 54"/>
          <p:cNvSpPr/>
          <p:nvPr/>
        </p:nvSpPr>
        <p:spPr>
          <a:xfrm>
            <a:off x="6053328" y="1883664"/>
            <a:ext cx="2743200" cy="2743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7" name="Text 55"/>
          <p:cNvSpPr/>
          <p:nvPr/>
        </p:nvSpPr>
        <p:spPr>
          <a:xfrm>
            <a:off x="6144768" y="19202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📊  Q3 매출 차트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567928" y="19385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✕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053328" y="2157984"/>
            <a:ext cx="914400" cy="237744"/>
          </a:xfrm>
          <a:prstGeom prst="rect">
            <a:avLst/>
          </a:prstGeom>
          <a:solidFill>
            <a:srgbClr val="FFFFFF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53328" y="215798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뷰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967728" y="2157984"/>
            <a:ext cx="914400" cy="237744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967728" y="215798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데이터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882128" y="2157984"/>
            <a:ext cx="914400" cy="237744"/>
          </a:xfrm>
          <a:prstGeom prst="rect">
            <a:avLst/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882128" y="215798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내보내기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144768" y="2468880"/>
            <a:ext cx="2560320" cy="19933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36208" y="3275381"/>
            <a:ext cx="220133" cy="97657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90488" y="4270248"/>
            <a:ext cx="3115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</a:rPr>
              <a:t>7월</a:t>
            </a:r>
            <a:endParaRPr lang="en-US" sz="550" dirty="0"/>
          </a:p>
        </p:txBody>
      </p:sp>
      <p:sp>
        <p:nvSpPr>
          <p:cNvPr id="68" name="Shape 66"/>
          <p:cNvSpPr/>
          <p:nvPr/>
        </p:nvSpPr>
        <p:spPr>
          <a:xfrm>
            <a:off x="6632448" y="2949854"/>
            <a:ext cx="220133" cy="130210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586728" y="4270248"/>
            <a:ext cx="3115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</a:rPr>
              <a:t>8월</a:t>
            </a:r>
            <a:endParaRPr lang="en-US" sz="550" dirty="0"/>
          </a:p>
        </p:txBody>
      </p:sp>
      <p:sp>
        <p:nvSpPr>
          <p:cNvPr id="70" name="Shape 68"/>
          <p:cNvSpPr/>
          <p:nvPr/>
        </p:nvSpPr>
        <p:spPr>
          <a:xfrm>
            <a:off x="7028688" y="3438144"/>
            <a:ext cx="220133" cy="8138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982968" y="4270248"/>
            <a:ext cx="3115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</a:rPr>
              <a:t>9월</a:t>
            </a:r>
            <a:endParaRPr lang="en-US" sz="550" dirty="0"/>
          </a:p>
        </p:txBody>
      </p:sp>
      <p:sp>
        <p:nvSpPr>
          <p:cNvPr id="72" name="Shape 70"/>
          <p:cNvSpPr/>
          <p:nvPr/>
        </p:nvSpPr>
        <p:spPr>
          <a:xfrm>
            <a:off x="7424928" y="2787091"/>
            <a:ext cx="220133" cy="146486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79208" y="4270248"/>
            <a:ext cx="3115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</a:rPr>
              <a:t>10월</a:t>
            </a:r>
            <a:endParaRPr lang="en-US" sz="550" dirty="0"/>
          </a:p>
        </p:txBody>
      </p:sp>
      <p:sp>
        <p:nvSpPr>
          <p:cNvPr id="74" name="Shape 72"/>
          <p:cNvSpPr/>
          <p:nvPr/>
        </p:nvSpPr>
        <p:spPr>
          <a:xfrm>
            <a:off x="7821168" y="3112618"/>
            <a:ext cx="220133" cy="113934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775448" y="4270248"/>
            <a:ext cx="3115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</a:rPr>
              <a:t>11월</a:t>
            </a:r>
            <a:endParaRPr lang="en-US" sz="550" dirty="0"/>
          </a:p>
        </p:txBody>
      </p:sp>
      <p:sp>
        <p:nvSpPr>
          <p:cNvPr id="76" name="Shape 74"/>
          <p:cNvSpPr/>
          <p:nvPr/>
        </p:nvSpPr>
        <p:spPr>
          <a:xfrm>
            <a:off x="8217408" y="2868473"/>
            <a:ext cx="220133" cy="138348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171688" y="4270248"/>
            <a:ext cx="311573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4A3B8"/>
                </a:solidFill>
              </a:rPr>
              <a:t>12월</a:t>
            </a:r>
            <a:endParaRPr lang="en-US" sz="550" dirty="0"/>
          </a:p>
        </p:txBody>
      </p:sp>
      <p:sp>
        <p:nvSpPr>
          <p:cNvPr id="78" name="Shape 76"/>
          <p:cNvSpPr/>
          <p:nvPr/>
        </p:nvSpPr>
        <p:spPr>
          <a:xfrm>
            <a:off x="6053328" y="4407408"/>
            <a:ext cx="27432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9" name="Shape 77"/>
          <p:cNvSpPr/>
          <p:nvPr/>
        </p:nvSpPr>
        <p:spPr>
          <a:xfrm>
            <a:off x="6126480" y="4498848"/>
            <a:ext cx="810768" cy="23774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26480" y="4498848"/>
            <a:ext cx="810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공유 URL 복사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6992112" y="4498848"/>
            <a:ext cx="810768" cy="23774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8890">
            <a:solidFill>
              <a:srgbClr val="059669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992112" y="4498848"/>
            <a:ext cx="810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CSV 내보내기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7857744" y="4498848"/>
            <a:ext cx="810768" cy="23774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8890">
            <a:solidFill>
              <a:srgbClr val="47556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857744" y="4498848"/>
            <a:ext cx="810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편집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868680"/>
            <a:ext cx="36576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046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" y="8046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단계별 제공 서비스 &amp; 로드맵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298448"/>
            <a:ext cx="1298448" cy="2103120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98448"/>
            <a:ext cx="1298448" cy="54864"/>
          </a:xfrm>
          <a:prstGeom prst="roundRect">
            <a:avLst>
              <a:gd name="adj" fmla="val 10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25880"/>
            <a:ext cx="1298448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89888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1700784"/>
            <a:ext cx="1161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플랫폼 기반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048256"/>
            <a:ext cx="1115568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" y="2176272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2103120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사용자 인증 · 로그인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" y="2505456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2432304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API 키 발급 · 관리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" y="2834640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2761488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LLM 모델 리소스 등록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" y="3163824"/>
            <a:ext cx="73152" cy="731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3090672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관리자 대시보드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73352" y="2221992"/>
            <a:ext cx="73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</a:rPr>
              <a:t>›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755648" y="1298448"/>
            <a:ext cx="1298448" cy="2103120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55648" y="1298448"/>
            <a:ext cx="1298448" cy="54864"/>
          </a:xfrm>
          <a:prstGeom prst="roundRect">
            <a:avLst>
              <a:gd name="adj" fmla="val 10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55648" y="1325880"/>
            <a:ext cx="1298448" cy="27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47088" y="1389888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02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847088" y="1700784"/>
            <a:ext cx="1161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AI 채팅 서비스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847088" y="2048256"/>
            <a:ext cx="1115568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Shape 26"/>
          <p:cNvSpPr/>
          <p:nvPr/>
        </p:nvSpPr>
        <p:spPr>
          <a:xfrm>
            <a:off x="1847088" y="2103120"/>
            <a:ext cx="1115568" cy="210312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47088" y="2103120"/>
            <a:ext cx="11155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↑  플랫폼 기반 포함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865376" y="2450592"/>
            <a:ext cx="73152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93392" y="2377440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LLM 채팅 (실시간 스트리밍)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865376" y="2779776"/>
            <a:ext cx="73152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93392" y="2706624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멀티턴 대화 컨텍스트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865376" y="3108960"/>
            <a:ext cx="73152" cy="731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93392" y="3035808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세션 · 이력 관리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063240" y="2221992"/>
            <a:ext cx="73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</a:rPr>
              <a:t>›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145536" y="1298448"/>
            <a:ext cx="1298448" cy="2103120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45536" y="1298448"/>
            <a:ext cx="1298448" cy="54864"/>
          </a:xfrm>
          <a:prstGeom prst="roundRect">
            <a:avLst>
              <a:gd name="adj" fmla="val 10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45536" y="1325880"/>
            <a:ext cx="1298448" cy="27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36976" y="1389888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03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3236976" y="1700784"/>
            <a:ext cx="1161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지식 검색 서비스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36976" y="2048256"/>
            <a:ext cx="1115568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Shape 41"/>
          <p:cNvSpPr/>
          <p:nvPr/>
        </p:nvSpPr>
        <p:spPr>
          <a:xfrm>
            <a:off x="3236976" y="2103120"/>
            <a:ext cx="1115568" cy="210312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36976" y="2103120"/>
            <a:ext cx="11155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↑  AI 채팅 포함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255264" y="2450592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83280" y="2377440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문서 업로드 · 색인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55264" y="2779776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83280" y="2706624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RAG 벡터 검색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55264" y="3108960"/>
            <a:ext cx="73152" cy="731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83280" y="3035808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AI 에이전트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453128" y="2221992"/>
            <a:ext cx="73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</a:rPr>
              <a:t>›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4535424" y="1298448"/>
            <a:ext cx="1298448" cy="2103120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35424" y="1298448"/>
            <a:ext cx="1298448" cy="54864"/>
          </a:xfrm>
          <a:prstGeom prst="roundRect">
            <a:avLst>
              <a:gd name="adj" fmla="val 10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35424" y="1325880"/>
            <a:ext cx="1298448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26864" y="1389888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04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4626864" y="1700784"/>
            <a:ext cx="1161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운영 고도화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626864" y="2048256"/>
            <a:ext cx="1115568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Shape 56"/>
          <p:cNvSpPr/>
          <p:nvPr/>
        </p:nvSpPr>
        <p:spPr>
          <a:xfrm>
            <a:off x="4626864" y="2103120"/>
            <a:ext cx="1115568" cy="210312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26864" y="2103120"/>
            <a:ext cx="11155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↑  지식 검색 포함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645152" y="2450592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73168" y="2377440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실시간 모니터링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645152" y="2779776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73168" y="2706624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LLM 비용 · 성능 추적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645152" y="3108960"/>
            <a:ext cx="73152" cy="731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73168" y="3035808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고가용성 배포 (K8s)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843016" y="2221992"/>
            <a:ext cx="73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⇢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5925312" y="1298448"/>
            <a:ext cx="1298448" cy="2103120"/>
          </a:xfrm>
          <a:prstGeom prst="roundRect">
            <a:avLst>
              <a:gd name="adj" fmla="val 4225"/>
            </a:avLst>
          </a:prstGeom>
          <a:solidFill>
            <a:srgbClr val="FFFBF5"/>
          </a:solidFill>
          <a:ln w="15240">
            <a:solidFill>
              <a:srgbClr val="D97706"/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>
            <a:off x="5925312" y="1298448"/>
            <a:ext cx="1298448" cy="54864"/>
          </a:xfrm>
          <a:prstGeom prst="roundRect">
            <a:avLst>
              <a:gd name="adj" fmla="val 10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925312" y="1325880"/>
            <a:ext cx="1298448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601968" y="1371600"/>
            <a:ext cx="548640" cy="18288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01968" y="13716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예정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6016752" y="1389888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05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6016752" y="1700784"/>
            <a:ext cx="1161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사용량 분석 대시보드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016752" y="2048256"/>
            <a:ext cx="1115568" cy="13716"/>
          </a:xfrm>
          <a:prstGeom prst="rect">
            <a:avLst/>
          </a:prstGeom>
          <a:solidFill>
            <a:srgbClr val="FFE5C0"/>
          </a:solidFill>
          <a:ln/>
        </p:spPr>
      </p:sp>
      <p:sp>
        <p:nvSpPr>
          <p:cNvPr id="75" name="Shape 73"/>
          <p:cNvSpPr/>
          <p:nvPr/>
        </p:nvSpPr>
        <p:spPr>
          <a:xfrm>
            <a:off x="6016752" y="2103120"/>
            <a:ext cx="1115568" cy="210312"/>
          </a:xfrm>
          <a:prstGeom prst="roundRect">
            <a:avLst>
              <a:gd name="adj" fmla="val 17391"/>
            </a:avLst>
          </a:prstGeom>
          <a:solidFill>
            <a:srgbClr val="FEF3E2"/>
          </a:solidFill>
          <a:ln w="7620">
            <a:solidFill>
              <a:srgbClr val="FCD34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016752" y="2103120"/>
            <a:ext cx="11155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↑  운영 고도화 포함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035040" y="2450592"/>
            <a:ext cx="82296" cy="8229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63056" y="2377440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부서별 · 사용자별 사용량 리포트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035040" y="2779776"/>
            <a:ext cx="82296" cy="8229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63056" y="2706624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LLM 비용 분석 (모델별)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035040" y="3108960"/>
            <a:ext cx="82296" cy="8229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63056" y="3035808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사용 패턴 시각화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7232904" y="2221992"/>
            <a:ext cx="73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</a:rPr>
              <a:t>›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7315200" y="1298448"/>
            <a:ext cx="1298448" cy="2103120"/>
          </a:xfrm>
          <a:prstGeom prst="roundRect">
            <a:avLst>
              <a:gd name="adj" fmla="val 4225"/>
            </a:avLst>
          </a:prstGeom>
          <a:solidFill>
            <a:srgbClr val="FFFBF5"/>
          </a:solidFill>
          <a:ln w="15240">
            <a:solidFill>
              <a:srgbClr val="D97706"/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>
            <a:off x="7315200" y="1298448"/>
            <a:ext cx="1298448" cy="54864"/>
          </a:xfrm>
          <a:prstGeom prst="roundRect">
            <a:avLst>
              <a:gd name="adj" fmla="val 100000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315200" y="1325880"/>
            <a:ext cx="1298448" cy="27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991856" y="1371600"/>
            <a:ext cx="548640" cy="18288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991856" y="13716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예정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7406640" y="1389888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06</a:t>
            </a:r>
            <a:endParaRPr lang="en-US" sz="1800" dirty="0"/>
          </a:p>
        </p:txBody>
      </p:sp>
      <p:sp>
        <p:nvSpPr>
          <p:cNvPr id="90" name="Text 88"/>
          <p:cNvSpPr/>
          <p:nvPr/>
        </p:nvSpPr>
        <p:spPr>
          <a:xfrm>
            <a:off x="7406640" y="1700784"/>
            <a:ext cx="11612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플러그인 마켓플레이스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7406640" y="2048256"/>
            <a:ext cx="1115568" cy="13716"/>
          </a:xfrm>
          <a:prstGeom prst="rect">
            <a:avLst/>
          </a:prstGeom>
          <a:solidFill>
            <a:srgbClr val="FFE5C0"/>
          </a:solidFill>
          <a:ln/>
        </p:spPr>
      </p:sp>
      <p:sp>
        <p:nvSpPr>
          <p:cNvPr id="92" name="Shape 90"/>
          <p:cNvSpPr/>
          <p:nvPr/>
        </p:nvSpPr>
        <p:spPr>
          <a:xfrm>
            <a:off x="7406640" y="2103120"/>
            <a:ext cx="1115568" cy="210312"/>
          </a:xfrm>
          <a:prstGeom prst="roundRect">
            <a:avLst>
              <a:gd name="adj" fmla="val 17391"/>
            </a:avLst>
          </a:prstGeom>
          <a:solidFill>
            <a:srgbClr val="FEF3E2"/>
          </a:solidFill>
          <a:ln w="7620">
            <a:solidFill>
              <a:srgbClr val="FCD34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406640" y="2103120"/>
            <a:ext cx="1115568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↑  분석 대시보드 포함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7424928" y="2450592"/>
            <a:ext cx="82296" cy="8229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552944" y="2377440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외부 도구 · API 플러그인 등록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7424928" y="2779776"/>
            <a:ext cx="82296" cy="8229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552944" y="2706624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마켓플레이스 관리 UI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7424928" y="3108960"/>
            <a:ext cx="82296" cy="82296"/>
          </a:xfrm>
          <a:prstGeom prst="ellipse">
            <a:avLst/>
          </a:prstGeom>
          <a:solidFill>
            <a:srgbClr val="FFFFFF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552944" y="3035808"/>
            <a:ext cx="9875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플러그인 사용량 추적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91440" y="3566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M1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1924304" y="3566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M2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2840736" y="3566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M3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3757168" y="3566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M4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4673600" y="3566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M5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5590032" y="3566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M6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6964680" y="35661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미래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365760" y="3803904"/>
            <a:ext cx="5498592" cy="292608"/>
          </a:xfrm>
          <a:prstGeom prst="roundRect">
            <a:avLst>
              <a:gd name="adj" fmla="val 15625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900928" y="3803904"/>
            <a:ext cx="2712720" cy="292608"/>
          </a:xfrm>
          <a:prstGeom prst="roundRect">
            <a:avLst>
              <a:gd name="adj" fmla="val 15625"/>
            </a:avLst>
          </a:prstGeom>
          <a:solidFill>
            <a:srgbClr val="FFF7ED"/>
          </a:solidFill>
          <a:ln w="10160">
            <a:solidFill>
              <a:srgbClr val="D97706"/>
            </a:solidFill>
            <a:prstDash val="dash"/>
          </a:ln>
        </p:spPr>
      </p:sp>
      <p:sp>
        <p:nvSpPr>
          <p:cNvPr id="109" name="Shape 107"/>
          <p:cNvSpPr/>
          <p:nvPr/>
        </p:nvSpPr>
        <p:spPr>
          <a:xfrm>
            <a:off x="365760" y="3803904"/>
            <a:ext cx="889000" cy="292608"/>
          </a:xfrm>
          <a:prstGeom prst="roundRect">
            <a:avLst>
              <a:gd name="adj" fmla="val 937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14984" y="3401568"/>
            <a:ext cx="0" cy="402336"/>
          </a:xfrm>
          <a:prstGeom prst="line">
            <a:avLst/>
          </a:prstGeom>
          <a:noFill/>
          <a:ln w="7620">
            <a:solidFill>
              <a:srgbClr val="2563EB"/>
            </a:solidFill>
            <a:prstDash val="sysDot"/>
          </a:ln>
        </p:spPr>
      </p:sp>
      <p:sp>
        <p:nvSpPr>
          <p:cNvPr id="111" name="Shape 109"/>
          <p:cNvSpPr/>
          <p:nvPr/>
        </p:nvSpPr>
        <p:spPr>
          <a:xfrm>
            <a:off x="1282192" y="3803904"/>
            <a:ext cx="1347216" cy="292608"/>
          </a:xfrm>
          <a:prstGeom prst="roundRect">
            <a:avLst>
              <a:gd name="adj" fmla="val 937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404872" y="3401568"/>
            <a:ext cx="0" cy="402336"/>
          </a:xfrm>
          <a:prstGeom prst="line">
            <a:avLst/>
          </a:prstGeom>
          <a:noFill/>
          <a:ln w="7620">
            <a:solidFill>
              <a:srgbClr val="059669"/>
            </a:solidFill>
            <a:prstDash val="sysDot"/>
          </a:ln>
        </p:spPr>
      </p:sp>
      <p:sp>
        <p:nvSpPr>
          <p:cNvPr id="113" name="Shape 111"/>
          <p:cNvSpPr/>
          <p:nvPr/>
        </p:nvSpPr>
        <p:spPr>
          <a:xfrm>
            <a:off x="2656840" y="3803904"/>
            <a:ext cx="1347216" cy="292608"/>
          </a:xfrm>
          <a:prstGeom prst="roundRect">
            <a:avLst>
              <a:gd name="adj" fmla="val 937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794760" y="3401568"/>
            <a:ext cx="0" cy="402336"/>
          </a:xfrm>
          <a:prstGeom prst="line">
            <a:avLst/>
          </a:prstGeom>
          <a:noFill/>
          <a:ln w="7620">
            <a:solidFill>
              <a:srgbClr val="0891B2"/>
            </a:solidFill>
            <a:prstDash val="sysDot"/>
          </a:ln>
        </p:spPr>
      </p:sp>
      <p:sp>
        <p:nvSpPr>
          <p:cNvPr id="115" name="Shape 113"/>
          <p:cNvSpPr/>
          <p:nvPr/>
        </p:nvSpPr>
        <p:spPr>
          <a:xfrm>
            <a:off x="4031488" y="3803904"/>
            <a:ext cx="889000" cy="292608"/>
          </a:xfrm>
          <a:prstGeom prst="roundRect">
            <a:avLst>
              <a:gd name="adj" fmla="val 937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184648" y="3401568"/>
            <a:ext cx="0" cy="402336"/>
          </a:xfrm>
          <a:prstGeom prst="line">
            <a:avLst/>
          </a:prstGeom>
          <a:noFill/>
          <a:ln w="7620">
            <a:solidFill>
              <a:srgbClr val="7C3AED"/>
            </a:solidFill>
            <a:prstDash val="sysDot"/>
          </a:ln>
        </p:spPr>
      </p:sp>
      <p:sp>
        <p:nvSpPr>
          <p:cNvPr id="117" name="Shape 115"/>
          <p:cNvSpPr/>
          <p:nvPr/>
        </p:nvSpPr>
        <p:spPr>
          <a:xfrm>
            <a:off x="4947920" y="3803904"/>
            <a:ext cx="1347216" cy="292608"/>
          </a:xfrm>
          <a:prstGeom prst="roundRect">
            <a:avLst>
              <a:gd name="adj" fmla="val 9375"/>
            </a:avLst>
          </a:prstGeom>
          <a:solidFill>
            <a:srgbClr val="FED7AA"/>
          </a:solidFill>
          <a:ln w="12700">
            <a:solidFill>
              <a:srgbClr val="D97706"/>
            </a:solidFill>
            <a:prstDash val="dash"/>
          </a:ln>
        </p:spPr>
      </p:sp>
      <p:sp>
        <p:nvSpPr>
          <p:cNvPr id="118" name="Shape 116"/>
          <p:cNvSpPr/>
          <p:nvPr/>
        </p:nvSpPr>
        <p:spPr>
          <a:xfrm>
            <a:off x="6574536" y="3401568"/>
            <a:ext cx="0" cy="402336"/>
          </a:xfrm>
          <a:prstGeom prst="line">
            <a:avLst/>
          </a:prstGeom>
          <a:noFill/>
          <a:ln w="7620">
            <a:solidFill>
              <a:srgbClr val="D97706"/>
            </a:solidFill>
            <a:prstDash val="sysDot"/>
          </a:ln>
        </p:spPr>
      </p:sp>
      <p:sp>
        <p:nvSpPr>
          <p:cNvPr id="119" name="Shape 117"/>
          <p:cNvSpPr/>
          <p:nvPr/>
        </p:nvSpPr>
        <p:spPr>
          <a:xfrm>
            <a:off x="6322568" y="3803904"/>
            <a:ext cx="1347216" cy="292608"/>
          </a:xfrm>
          <a:prstGeom prst="roundRect">
            <a:avLst>
              <a:gd name="adj" fmla="val 9375"/>
            </a:avLst>
          </a:prstGeom>
          <a:solidFill>
            <a:srgbClr val="FED7AA"/>
          </a:solidFill>
          <a:ln w="12700">
            <a:solidFill>
              <a:srgbClr val="D97706"/>
            </a:solidFill>
            <a:prstDash val="dash"/>
          </a:ln>
        </p:spPr>
      </p:sp>
      <p:sp>
        <p:nvSpPr>
          <p:cNvPr id="120" name="Shape 118"/>
          <p:cNvSpPr/>
          <p:nvPr/>
        </p:nvSpPr>
        <p:spPr>
          <a:xfrm>
            <a:off x="7964424" y="3401568"/>
            <a:ext cx="0" cy="402336"/>
          </a:xfrm>
          <a:prstGeom prst="line">
            <a:avLst/>
          </a:prstGeom>
          <a:noFill/>
          <a:ln w="7620">
            <a:solidFill>
              <a:srgbClr val="D97706"/>
            </a:solidFill>
            <a:prstDash val="sysDot"/>
          </a:ln>
        </p:spPr>
      </p:sp>
      <p:sp>
        <p:nvSpPr>
          <p:cNvPr id="121" name="Shape 119"/>
          <p:cNvSpPr/>
          <p:nvPr/>
        </p:nvSpPr>
        <p:spPr>
          <a:xfrm rot="2700000">
            <a:off x="1190752" y="3849624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79272" y="41605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플랫폼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기반 완료</a:t>
            </a:r>
            <a:endParaRPr lang="en-US" sz="780" dirty="0"/>
          </a:p>
        </p:txBody>
      </p:sp>
      <p:sp>
        <p:nvSpPr>
          <p:cNvPr id="123" name="Shape 121"/>
          <p:cNvSpPr/>
          <p:nvPr/>
        </p:nvSpPr>
        <p:spPr>
          <a:xfrm rot="2700000">
            <a:off x="2565400" y="3849624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153920" y="41605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AI 채팅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오픈</a:t>
            </a:r>
            <a:endParaRPr lang="en-US" sz="780" dirty="0"/>
          </a:p>
        </p:txBody>
      </p:sp>
      <p:sp>
        <p:nvSpPr>
          <p:cNvPr id="125" name="Shape 123"/>
          <p:cNvSpPr/>
          <p:nvPr/>
        </p:nvSpPr>
        <p:spPr>
          <a:xfrm rot="2700000">
            <a:off x="3940048" y="3849624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528568" y="41605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891B2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지식 검색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0891B2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오픈</a:t>
            </a:r>
            <a:endParaRPr lang="en-US" sz="780" dirty="0"/>
          </a:p>
        </p:txBody>
      </p:sp>
      <p:sp>
        <p:nvSpPr>
          <p:cNvPr id="127" name="Shape 125"/>
          <p:cNvSpPr/>
          <p:nvPr/>
        </p:nvSpPr>
        <p:spPr>
          <a:xfrm rot="2700000">
            <a:off x="4856480" y="3849624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445000" y="41605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7C3AED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정식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7C3AED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출시</a:t>
            </a:r>
            <a:endParaRPr lang="en-US" sz="780" dirty="0"/>
          </a:p>
        </p:txBody>
      </p:sp>
      <p:sp>
        <p:nvSpPr>
          <p:cNvPr id="129" name="Shape 127"/>
          <p:cNvSpPr/>
          <p:nvPr/>
        </p:nvSpPr>
        <p:spPr>
          <a:xfrm rot="2700000">
            <a:off x="6231128" y="3849624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819648" y="41605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9731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분석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F9731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대시보드</a:t>
            </a:r>
            <a:endParaRPr lang="en-US" sz="780" dirty="0"/>
          </a:p>
        </p:txBody>
      </p:sp>
      <p:sp>
        <p:nvSpPr>
          <p:cNvPr id="131" name="Shape 129"/>
          <p:cNvSpPr/>
          <p:nvPr/>
        </p:nvSpPr>
        <p:spPr>
          <a:xfrm rot="2700000">
            <a:off x="7605776" y="3849624"/>
            <a:ext cx="18288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7194296" y="41605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8B5CF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마켓플레이스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8B5CF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오픈</a:t>
            </a:r>
            <a:endParaRPr lang="en-US" sz="780" dirty="0"/>
          </a:p>
        </p:txBody>
      </p:sp>
      <p:sp>
        <p:nvSpPr>
          <p:cNvPr id="133" name="Text 131"/>
          <p:cNvSpPr/>
          <p:nvPr/>
        </p:nvSpPr>
        <p:spPr>
          <a:xfrm>
            <a:off x="365760" y="4626864"/>
            <a:ext cx="8247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각 단계는 이전 단계 서비스를 모두 포함 · 점선 카드는 미래 확장 예정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868680"/>
            <a:ext cx="36576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046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" y="8046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투입 공수 (MM)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25880"/>
            <a:ext cx="26060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8988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3 명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8013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총 투입 인원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6060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38988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6 개월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46120" y="18013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개발 기간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325880"/>
            <a:ext cx="26060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38988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10 MM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035040" y="18013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총 공수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" y="2231136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AI/ML 개발  (orchestrator-server)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0352" y="2450592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RAG · 에이전트 · 스트리밍 · 아티팩트 시스템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931920" y="2276856"/>
            <a:ext cx="4572000" cy="256032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0" y="2276856"/>
            <a:ext cx="1371600" cy="256032"/>
          </a:xfrm>
          <a:prstGeom prst="roundRect">
            <a:avLst>
              <a:gd name="adj" fmla="val 1071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227685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3 MM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0352" y="2651760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백엔드 개발  (platform-server)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0352" y="2871216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인증 · 사용자 · API 키 · LLM 리소스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931920" y="2697480"/>
            <a:ext cx="4572000" cy="256032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31920" y="2697480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6974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2 MM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0352" y="3072384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채팅 앱 개발  (Chat Frontend)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0352" y="3291840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채팅 UI · 아티팩트 패널 · 공유 기능 (미구현)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931920" y="3118104"/>
            <a:ext cx="4572000" cy="256032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31920" y="3118104"/>
            <a:ext cx="914400" cy="256032"/>
          </a:xfrm>
          <a:prstGeom prst="roundRect">
            <a:avLst>
              <a:gd name="adj" fmla="val 10714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11810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2 MM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30352" y="3493008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프론트엔드  (admin-front)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0352" y="3712464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관리 UI · 대시보드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931920" y="3538728"/>
            <a:ext cx="4572000" cy="256032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31920" y="3538728"/>
            <a:ext cx="685800" cy="256032"/>
          </a:xfrm>
          <a:prstGeom prst="roundRect">
            <a:avLst>
              <a:gd name="adj" fmla="val 10714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538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1.5 MM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30352" y="3913632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DevOps / 인프라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30352" y="4133088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Docker · Kubernetes · 관찰가능성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931920" y="3959352"/>
            <a:ext cx="4572000" cy="256032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31920" y="3959352"/>
            <a:ext cx="457200" cy="256032"/>
          </a:xfrm>
          <a:prstGeom prst="roundRect">
            <a:avLst>
              <a:gd name="adj" fmla="val 10714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80560" y="39593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1 MM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30352" y="4334256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기획 / PM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30352" y="4553712"/>
            <a:ext cx="3246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요구사항 · 일정 관리 · 검수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931920" y="4379976"/>
            <a:ext cx="4572000" cy="256032"/>
          </a:xfrm>
          <a:prstGeom prst="roundRect">
            <a:avLst>
              <a:gd name="adj" fmla="val 10714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31920" y="4379976"/>
            <a:ext cx="228600" cy="256032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51960" y="437997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0.5 MM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57200" y="4892040"/>
            <a:ext cx="822960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합계  10 MM  (채팅 앱 2 MM 포함)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868680"/>
            <a:ext cx="36576" cy="5029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046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" y="8046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전체 시스템 구성도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1280160"/>
            <a:ext cx="8631936" cy="566928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 w="6350">
            <a:solidFill>
              <a:srgbClr val="94A3B8"/>
            </a:solidFill>
            <a:prstDash val="dot"/>
          </a:ln>
        </p:spPr>
      </p:sp>
      <p:sp>
        <p:nvSpPr>
          <p:cNvPr id="8" name="Shape 6"/>
          <p:cNvSpPr/>
          <p:nvPr/>
        </p:nvSpPr>
        <p:spPr>
          <a:xfrm>
            <a:off x="256032" y="1280160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2801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사용자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032" y="1920240"/>
            <a:ext cx="8631936" cy="594360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6350">
            <a:solidFill>
              <a:srgbClr val="0891B2"/>
            </a:solidFill>
            <a:prstDash val="dot"/>
          </a:ln>
        </p:spPr>
      </p:sp>
      <p:sp>
        <p:nvSpPr>
          <p:cNvPr id="11" name="Shape 9"/>
          <p:cNvSpPr/>
          <p:nvPr/>
        </p:nvSpPr>
        <p:spPr>
          <a:xfrm>
            <a:off x="256032" y="1920240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9202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프론트엔드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56032" y="2587752"/>
            <a:ext cx="8631936" cy="457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6350">
            <a:solidFill>
              <a:srgbClr val="D97706"/>
            </a:solidFill>
            <a:prstDash val="dot"/>
          </a:ln>
        </p:spPr>
      </p:sp>
      <p:sp>
        <p:nvSpPr>
          <p:cNvPr id="14" name="Shape 12"/>
          <p:cNvSpPr/>
          <p:nvPr/>
        </p:nvSpPr>
        <p:spPr>
          <a:xfrm>
            <a:off x="256032" y="2587752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58775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게이트웨이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56032" y="3118104"/>
            <a:ext cx="8631936" cy="86868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6350">
            <a:solidFill>
              <a:srgbClr val="2563EB"/>
            </a:solidFill>
            <a:prstDash val="dot"/>
          </a:ln>
        </p:spPr>
      </p:sp>
      <p:sp>
        <p:nvSpPr>
          <p:cNvPr id="17" name="Shape 15"/>
          <p:cNvSpPr/>
          <p:nvPr/>
        </p:nvSpPr>
        <p:spPr>
          <a:xfrm>
            <a:off x="256032" y="3118104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311810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애플리케이션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56032" y="4059936"/>
            <a:ext cx="8631936" cy="804672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6350">
            <a:solidFill>
              <a:srgbClr val="7C3AED"/>
            </a:solidFill>
            <a:prstDash val="dot"/>
          </a:ln>
        </p:spPr>
      </p:sp>
      <p:sp>
        <p:nvSpPr>
          <p:cNvPr id="20" name="Shape 18"/>
          <p:cNvSpPr/>
          <p:nvPr/>
        </p:nvSpPr>
        <p:spPr>
          <a:xfrm>
            <a:off x="256032" y="4059936"/>
            <a:ext cx="1005840" cy="201168"/>
          </a:xfrm>
          <a:prstGeom prst="round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405993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데이터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335024" y="1389888"/>
            <a:ext cx="23317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35024" y="1389888"/>
            <a:ext cx="36576" cy="347472"/>
          </a:xfrm>
          <a:prstGeom prst="roundRect">
            <a:avLst>
              <a:gd name="adj" fmla="val 1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44752" y="1444752"/>
            <a:ext cx="2167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관리자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44752" y="1682496"/>
            <a:ext cx="2167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admin-front 사용자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21024" y="1389888"/>
            <a:ext cx="24231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21024" y="1389888"/>
            <a:ext cx="36576" cy="347472"/>
          </a:xfrm>
          <a:prstGeom prst="roundRect">
            <a:avLst>
              <a:gd name="adj" fmla="val 125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30752" y="1444752"/>
            <a:ext cx="2258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고객사 임직원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30752" y="1682496"/>
            <a:ext cx="2258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채팅 서비스 사용자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114032" y="1389888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14032" y="1389888"/>
            <a:ext cx="36576" cy="347472"/>
          </a:xfrm>
          <a:prstGeom prst="roundRect">
            <a:avLst>
              <a:gd name="adj" fmla="val 12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1444752"/>
            <a:ext cx="932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공유 URL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접근자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335024" y="2011680"/>
            <a:ext cx="23317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35024" y="2011680"/>
            <a:ext cx="36576" cy="420624"/>
          </a:xfrm>
          <a:prstGeom prst="roundRect">
            <a:avLst>
              <a:gd name="adj" fmla="val 12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44752" y="2066544"/>
            <a:ext cx="2167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admin-front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444752" y="2304288"/>
            <a:ext cx="2167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Next.js 16 · TypeScript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21024" y="2011680"/>
            <a:ext cx="242316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3621024" y="2011680"/>
            <a:ext cx="36576" cy="420624"/>
          </a:xfrm>
          <a:prstGeom prst="roundRect">
            <a:avLst>
              <a:gd name="adj" fmla="val 125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30752" y="2066544"/>
            <a:ext cx="2258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채팅 앱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730752" y="2304288"/>
            <a:ext cx="2258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React (미구현 · 별도 개발)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04104" y="2066544"/>
            <a:ext cx="566928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04104" y="2066544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미구현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1335024" y="2660904"/>
            <a:ext cx="7498080" cy="310896"/>
          </a:xfrm>
          <a:prstGeom prst="roundRect">
            <a:avLst>
              <a:gd name="adj" fmla="val 14706"/>
            </a:avLst>
          </a:prstGeom>
          <a:solidFill>
            <a:srgbClr val="FFF7ED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35024" y="2660904"/>
            <a:ext cx="36576" cy="31089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5" name="Text 43"/>
          <p:cNvSpPr/>
          <p:nvPr/>
        </p:nvSpPr>
        <p:spPr>
          <a:xfrm>
            <a:off x="1463040" y="269748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Nginx  —  단일 진입점  (모든 트래픽 통과  ·  /api/* 라우팅  ·  /share/* 공개 접근)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335024" y="3191256"/>
            <a:ext cx="23317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35024" y="3191256"/>
            <a:ext cx="36576" cy="713232"/>
          </a:xfrm>
          <a:prstGeom prst="roundRect">
            <a:avLst>
              <a:gd name="adj" fmla="val 1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444752" y="3246120"/>
            <a:ext cx="2167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platform-server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444752" y="3483864"/>
            <a:ext cx="2167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Spring Boot 3.4 · Java 21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621024" y="3191256"/>
            <a:ext cx="5833872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21024" y="3191256"/>
            <a:ext cx="36576" cy="713232"/>
          </a:xfrm>
          <a:prstGeom prst="roundRect">
            <a:avLst>
              <a:gd name="adj" fmla="val 125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30752" y="322783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orchestrator-server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730752" y="34290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FastAPI · LangGraph · Python 3.13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004304" y="3236976"/>
            <a:ext cx="2331720" cy="603504"/>
          </a:xfrm>
          <a:prstGeom prst="roundRect">
            <a:avLst>
              <a:gd name="adj" fmla="val 6061"/>
            </a:avLst>
          </a:prstGeom>
          <a:solidFill>
            <a:srgbClr val="F5F3FF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14032" y="3264408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📎  아티팩트 시스템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114032" y="3465576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/artifacts  ·  GET /data  ·  POST /share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/share/{token}  (공개, no-auth)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721608" y="3374136"/>
            <a:ext cx="1371600" cy="18288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762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21608" y="337413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JWT HS256 공유 SECRET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1335024" y="4133088"/>
            <a:ext cx="33375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335024" y="4133088"/>
            <a:ext cx="36576" cy="640080"/>
          </a:xfrm>
          <a:prstGeom prst="roundRect">
            <a:avLst>
              <a:gd name="adj" fmla="val 12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444752" y="4151376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PostgreSQL  +  pgvector  (schema: llmonl)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444752" y="4370832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platform:  users · api_key · llm_resource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1444752" y="453542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orchestrator:  session · rag_embedding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3017520" y="4370832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C3AED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artifact · artifact_share  ★ NEW</a:t>
            </a:r>
            <a:endParaRPr lang="en-US" sz="720" dirty="0"/>
          </a:p>
        </p:txBody>
      </p:sp>
      <p:sp>
        <p:nvSpPr>
          <p:cNvPr id="65" name="Text 63"/>
          <p:cNvSpPr/>
          <p:nvPr/>
        </p:nvSpPr>
        <p:spPr>
          <a:xfrm>
            <a:off x="3017520" y="453542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gpt_chat_message</a:t>
            </a:r>
            <a:endParaRPr lang="en-US" sz="720" dirty="0"/>
          </a:p>
        </p:txBody>
      </p:sp>
      <p:sp>
        <p:nvSpPr>
          <p:cNvPr id="66" name="Shape 64"/>
          <p:cNvSpPr/>
          <p:nvPr/>
        </p:nvSpPr>
        <p:spPr>
          <a:xfrm>
            <a:off x="4855464" y="4133088"/>
            <a:ext cx="16916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855464" y="4133088"/>
            <a:ext cx="36576" cy="640080"/>
          </a:xfrm>
          <a:prstGeom prst="roundRect">
            <a:avLst>
              <a:gd name="adj" fmla="val 125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965192" y="4187952"/>
            <a:ext cx="1527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Langfuse v3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965192" y="4425696"/>
            <a:ext cx="1527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ClickHouse · Redis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684264" y="4133088"/>
            <a:ext cx="2514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684264" y="4133088"/>
            <a:ext cx="36576" cy="640080"/>
          </a:xfrm>
          <a:prstGeom prst="roundRect">
            <a:avLst>
              <a:gd name="adj" fmla="val 12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93992" y="4187952"/>
            <a:ext cx="2350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Prometheus · Grafana · Loki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793992" y="4425696"/>
            <a:ext cx="2350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메트릭 · 로그 · 대시보드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500884" y="1847088"/>
            <a:ext cx="914" cy="7315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4832604" y="1847088"/>
            <a:ext cx="914" cy="7315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2500884" y="2514600"/>
            <a:ext cx="914" cy="7315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4832604" y="2514600"/>
            <a:ext cx="914" cy="7315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7662672" y="1847088"/>
            <a:ext cx="914" cy="740664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  <a:headEnd type="none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2500884" y="3044952"/>
            <a:ext cx="914" cy="7315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4832604" y="3044952"/>
            <a:ext cx="480060" cy="7315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7662672" y="3044952"/>
            <a:ext cx="530352" cy="73152"/>
          </a:xfrm>
          <a:prstGeom prst="line">
            <a:avLst/>
          </a:prstGeom>
          <a:noFill/>
          <a:ln w="12700">
            <a:solidFill>
              <a:srgbClr val="7C3AED"/>
            </a:solidFill>
            <a:prstDash val="dash"/>
            <a:headEnd type="none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2500884" y="3986784"/>
            <a:ext cx="388620" cy="7315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5312664" y="3986784"/>
            <a:ext cx="228600" cy="7315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3895344" y="3986784"/>
            <a:ext cx="4297680" cy="73152"/>
          </a:xfrm>
          <a:prstGeom prst="line">
            <a:avLst/>
          </a:prstGeom>
          <a:noFill/>
          <a:ln w="12700">
            <a:solidFill>
              <a:srgbClr val="7C3AED"/>
            </a:solidFill>
            <a:prstDash val="dash"/>
            <a:headEnd type="none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5312664" y="3986784"/>
            <a:ext cx="365760" cy="7315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868680"/>
            <a:ext cx="36576" cy="5029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046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" y="8046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서비스 인터랙션 맵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344168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298448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032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298448"/>
            <a:ext cx="54864" cy="566928"/>
          </a:xfrm>
          <a:prstGeom prst="roundRect">
            <a:avLst>
              <a:gd name="adj" fmla="val 13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37160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admin-front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50976" y="1609344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Next.js 16 · TypeScript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관리자 대시보드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06240" y="1344168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0520" y="1298448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160520" y="1298448"/>
            <a:ext cx="54864" cy="566928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88536" y="1371600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채팅 앱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88536" y="1609344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React · TypeScript (미구현)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고객사 임직원용 채팅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769864" y="1371600"/>
            <a:ext cx="694944" cy="18288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9864" y="1371600"/>
            <a:ext cx="6949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미구현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6949440" y="1344168"/>
            <a:ext cx="1874520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1298448"/>
            <a:ext cx="1874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2032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1298448"/>
            <a:ext cx="54864" cy="566928"/>
          </a:xfrm>
          <a:prstGeom prst="roundRect">
            <a:avLst>
              <a:gd name="adj" fmla="val 1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31736" y="1371600"/>
            <a:ext cx="1673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공유 링크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접근자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031736" y="1609344"/>
            <a:ext cx="1673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아티팩트 공개 URL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2057400"/>
            <a:ext cx="8412480" cy="402336"/>
          </a:xfrm>
          <a:prstGeom prst="roundRect">
            <a:avLst>
              <a:gd name="adj" fmla="val 13636"/>
            </a:avLst>
          </a:prstGeom>
          <a:solidFill>
            <a:srgbClr val="FFFBEB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057400"/>
            <a:ext cx="54864" cy="402336"/>
          </a:xfrm>
          <a:prstGeom prst="roundRect">
            <a:avLst>
              <a:gd name="adj" fmla="val 10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" y="211226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Nginx  —  단일 진입점  (:8060)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0" y="2093976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/api/v1/auth  /api/v1/users  /api/v1/api-keys  →  platform-server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657600" y="2258568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/api/*  /share/*  →  orchestrator-server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11480" y="278892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274320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2743200"/>
            <a:ext cx="54864" cy="777240"/>
          </a:xfrm>
          <a:prstGeom prst="roundRect">
            <a:avLst>
              <a:gd name="adj" fmla="val 13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" y="2816352"/>
            <a:ext cx="2999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platform-server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3776" y="3054096"/>
            <a:ext cx="2999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Spring Boot 3.4 · Java 21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인증 · 사용자 · API 키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LLM 리소스 관리 · JWT 발급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977640" y="278892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31920" y="274320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20320">
            <a:solidFill>
              <a:srgbClr val="0596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931920" y="2743200"/>
            <a:ext cx="54864" cy="777240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59936" y="2816352"/>
            <a:ext cx="3044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orchestrator-server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059936" y="3054096"/>
            <a:ext cx="3044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FastAPI · LangGraph · Python 3.13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RAG · 에이전트 · 아티팩트 시스템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SSE 스트리밍 · pgvector 검색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452360" y="278892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06640" y="274320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2032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06640" y="2743200"/>
            <a:ext cx="54864" cy="777240"/>
          </a:xfrm>
          <a:prstGeom prst="roundRect">
            <a:avLst>
              <a:gd name="adj" fmla="val 133333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34656" y="2816352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외부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LLM API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534656" y="3054096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OpenAI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Anthropic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Groq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575304" y="3031236"/>
            <a:ext cx="347472" cy="201168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75304" y="3031236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JWT HS256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11480" y="384048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379476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AF5FF"/>
          </a:solidFill>
          <a:ln w="20320">
            <a:solidFill>
              <a:srgbClr val="7C3AE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" y="3794760"/>
            <a:ext cx="54864" cy="731520"/>
          </a:xfrm>
          <a:prstGeom prst="roundRect">
            <a:avLst>
              <a:gd name="adj" fmla="val 1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776" y="3867912"/>
            <a:ext cx="3730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PostgreSQL + pgvector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93776" y="4105656"/>
            <a:ext cx="3730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schema: llmonl  ·  users · api_key · llm_resource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session · rag_embedding · artifact · artifact_share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526280" y="3840480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480560" y="3794760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20320">
            <a:solidFill>
              <a:srgbClr val="05966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480560" y="3794760"/>
            <a:ext cx="54864" cy="731520"/>
          </a:xfrm>
          <a:prstGeom prst="roundRect">
            <a:avLst>
              <a:gd name="adj" fmla="val 13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08576" y="38679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Langfuse v3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608576" y="4105656"/>
            <a:ext cx="1581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LLM 트레이싱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ClickHouse · Redis · MinIO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492240" y="384048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46520" y="379476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ECFEFF"/>
          </a:solidFill>
          <a:ln w="20320">
            <a:solidFill>
              <a:srgbClr val="0891B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46520" y="3794760"/>
            <a:ext cx="54864" cy="731520"/>
          </a:xfrm>
          <a:prstGeom prst="roundRect">
            <a:avLst>
              <a:gd name="adj" fmla="val 133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74536" y="3867912"/>
            <a:ext cx="2130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Prometheus · Grafana · Loki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574536" y="4105656"/>
            <a:ext cx="2130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메트릭 · 대시보드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로그 수집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965960" y="1865376"/>
            <a:ext cx="914" cy="19202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5349240" y="1865376"/>
            <a:ext cx="914" cy="192024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  <a:headEnd type="none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7840980" y="1865376"/>
            <a:ext cx="914" cy="192024"/>
          </a:xfrm>
          <a:prstGeom prst="line">
            <a:avLst/>
          </a:prstGeom>
          <a:noFill/>
          <a:ln w="15240">
            <a:solidFill>
              <a:srgbClr val="7C3AED"/>
            </a:solidFill>
            <a:prstDash val="lgDash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1965960" y="2459736"/>
            <a:ext cx="914" cy="283464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5554980" y="2459736"/>
            <a:ext cx="914" cy="283464"/>
          </a:xfrm>
          <a:prstGeom prst="line">
            <a:avLst/>
          </a:prstGeom>
          <a:noFill/>
          <a:ln w="2286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3566160" y="3131820"/>
            <a:ext cx="365760" cy="914"/>
          </a:xfrm>
          <a:prstGeom prst="line">
            <a:avLst/>
          </a:prstGeom>
          <a:noFill/>
          <a:ln w="17780">
            <a:solidFill>
              <a:srgbClr val="D97706"/>
            </a:solidFill>
            <a:prstDash val="solid"/>
            <a:headEnd type="triangle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7178040" y="3015234"/>
            <a:ext cx="228600" cy="914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1965960" y="3520440"/>
            <a:ext cx="914" cy="274320"/>
          </a:xfrm>
          <a:prstGeom prst="line">
            <a:avLst/>
          </a:prstGeom>
          <a:noFill/>
          <a:ln w="1778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4023360" y="3520440"/>
            <a:ext cx="274320" cy="274320"/>
          </a:xfrm>
          <a:prstGeom prst="line">
            <a:avLst/>
          </a:prstGeom>
          <a:noFill/>
          <a:ln w="12700">
            <a:solidFill>
              <a:srgbClr val="7C3AED"/>
            </a:solidFill>
            <a:prstDash val="dash"/>
            <a:headEnd type="none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5193792" y="3520440"/>
            <a:ext cx="18288" cy="274320"/>
          </a:xfrm>
          <a:prstGeom prst="line">
            <a:avLst/>
          </a:prstGeom>
          <a:noFill/>
          <a:ln w="1270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6720840" y="3520440"/>
            <a:ext cx="541782" cy="27432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1463040" y="1892808"/>
            <a:ext cx="676656" cy="18288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463040" y="1892808"/>
            <a:ext cx="676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1463040" y="2487168"/>
            <a:ext cx="676656" cy="18288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463040" y="2487168"/>
            <a:ext cx="676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5006340" y="2487168"/>
            <a:ext cx="1097280" cy="18288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006340" y="248716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SSE / REST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1417320" y="3547872"/>
            <a:ext cx="1097280" cy="18288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417320" y="35478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 / JDBC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3977640" y="3547872"/>
            <a:ext cx="929030" cy="18288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977640" y="3547872"/>
            <a:ext cx="9290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SQLModel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4983480" y="3547872"/>
            <a:ext cx="592531" cy="18288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983480" y="3547872"/>
            <a:ext cx="59253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OTLP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7086600" y="2991917"/>
            <a:ext cx="929030" cy="18288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086600" y="2991917"/>
            <a:ext cx="92903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Call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868680"/>
            <a:ext cx="36576" cy="5029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046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" y="8046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기술 스택 구성도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1261872"/>
            <a:ext cx="12984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클라이언트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481328"/>
            <a:ext cx="1298448" cy="228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1755648" y="1261872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게이트웨이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55648" y="1481328"/>
            <a:ext cx="1353312" cy="228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261872"/>
            <a:ext cx="2542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애플리케이션 서버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37560" y="1481328"/>
            <a:ext cx="2542032" cy="228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099048" y="1261872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C3AED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데이터 · 인프라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099048" y="1481328"/>
            <a:ext cx="2697480" cy="228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Shape 13"/>
          <p:cNvSpPr/>
          <p:nvPr/>
        </p:nvSpPr>
        <p:spPr>
          <a:xfrm>
            <a:off x="256032" y="2752344"/>
            <a:ext cx="1298448" cy="96012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2752344"/>
            <a:ext cx="36576" cy="960120"/>
          </a:xfrm>
          <a:prstGeom prst="roundRect">
            <a:avLst>
              <a:gd name="adj" fmla="val 125000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980944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Browser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3255264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HTTP · SSE · WS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55648" y="2752344"/>
            <a:ext cx="1353312" cy="960120"/>
          </a:xfrm>
          <a:prstGeom prst="roundRect">
            <a:avLst>
              <a:gd name="adj" fmla="val 476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55648" y="2752344"/>
            <a:ext cx="36576" cy="960120"/>
          </a:xfrm>
          <a:prstGeom prst="roundRect">
            <a:avLst>
              <a:gd name="adj" fmla="val 12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83664" y="2980944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Nginx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83664" y="3255264"/>
            <a:ext cx="1170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리버스 프록시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37560" y="1536192"/>
            <a:ext cx="2542032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37560" y="1536192"/>
            <a:ext cx="36576" cy="1005840"/>
          </a:xfrm>
          <a:prstGeom prst="roundRect">
            <a:avLst>
              <a:gd name="adj" fmla="val 1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65576" y="162763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platform-server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65576" y="1911096"/>
            <a:ext cx="2340864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Shape 25"/>
          <p:cNvSpPr/>
          <p:nvPr/>
        </p:nvSpPr>
        <p:spPr>
          <a:xfrm>
            <a:off x="3465576" y="1975104"/>
            <a:ext cx="743407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65576" y="1975104"/>
            <a:ext cx="743407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Java 21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4259275" y="1975104"/>
            <a:ext cx="1321308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59275" y="1975104"/>
            <a:ext cx="132130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Spring Boot 3.4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3465576" y="2231136"/>
            <a:ext cx="1321308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65576" y="2231136"/>
            <a:ext cx="132130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Spring Security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3465576" y="2487168"/>
            <a:ext cx="1321308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65576" y="2487168"/>
            <a:ext cx="132130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JPA / Hibernate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4837176" y="2487168"/>
            <a:ext cx="887882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37176" y="2487168"/>
            <a:ext cx="88788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JWT HS256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3465576" y="2743200"/>
            <a:ext cx="1465783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65576" y="2743200"/>
            <a:ext cx="1465783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7C3AED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PostgreSQL Driver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3337560" y="2724912"/>
            <a:ext cx="2542032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37560" y="2724912"/>
            <a:ext cx="36576" cy="1005840"/>
          </a:xfrm>
          <a:prstGeom prst="roundRect">
            <a:avLst>
              <a:gd name="adj" fmla="val 125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65576" y="281635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orchestrator-server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465576" y="3099816"/>
            <a:ext cx="2340864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Shape 41"/>
          <p:cNvSpPr/>
          <p:nvPr/>
        </p:nvSpPr>
        <p:spPr>
          <a:xfrm>
            <a:off x="3465576" y="3163824"/>
            <a:ext cx="1032358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65576" y="3163824"/>
            <a:ext cx="103235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Python 3.13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4548226" y="3163824"/>
            <a:ext cx="743407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48226" y="3163824"/>
            <a:ext cx="743407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FastAPI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3465576" y="3419856"/>
            <a:ext cx="887882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65576" y="3419856"/>
            <a:ext cx="88788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LangGraph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4403750" y="3419856"/>
            <a:ext cx="1104595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4755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03750" y="3419856"/>
            <a:ext cx="1104595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SQLModel ORM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3465576" y="3675888"/>
            <a:ext cx="960120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65576" y="3675888"/>
            <a:ext cx="9601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OpenAI SDK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4475988" y="3675888"/>
            <a:ext cx="1104595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75988" y="3675888"/>
            <a:ext cx="1104595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Langfuse SDK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3337560" y="3913632"/>
            <a:ext cx="123444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337560" y="3913632"/>
            <a:ext cx="36576" cy="1005840"/>
          </a:xfrm>
          <a:prstGeom prst="roundRect">
            <a:avLst>
              <a:gd name="adj" fmla="val 12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65576" y="4005072"/>
            <a:ext cx="1033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admin-front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465576" y="4288536"/>
            <a:ext cx="1033272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9" name="Shape 57"/>
          <p:cNvSpPr/>
          <p:nvPr/>
        </p:nvSpPr>
        <p:spPr>
          <a:xfrm>
            <a:off x="3465576" y="4352544"/>
            <a:ext cx="960120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0891B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65576" y="4352544"/>
            <a:ext cx="9601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891B2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Next.js 16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3465576" y="4608576"/>
            <a:ext cx="960120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465576" y="4608576"/>
            <a:ext cx="9601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TypeScript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3465576" y="4864608"/>
            <a:ext cx="526694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47556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65576" y="4864608"/>
            <a:ext cx="52669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pnpm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3465576" y="5120640"/>
            <a:ext cx="598932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47556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65576" y="5120640"/>
            <a:ext cx="59893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Axios</a:t>
            </a:r>
            <a:endParaRPr lang="en-US" sz="780" dirty="0"/>
          </a:p>
        </p:txBody>
      </p:sp>
      <p:sp>
        <p:nvSpPr>
          <p:cNvPr id="67" name="Shape 65"/>
          <p:cNvSpPr/>
          <p:nvPr/>
        </p:nvSpPr>
        <p:spPr>
          <a:xfrm>
            <a:off x="4645152" y="3913632"/>
            <a:ext cx="1234440" cy="1005840"/>
          </a:xfrm>
          <a:prstGeom prst="roundRect">
            <a:avLst>
              <a:gd name="adj" fmla="val 4545"/>
            </a:avLst>
          </a:prstGeom>
          <a:solidFill>
            <a:srgbClr val="FFFBF5"/>
          </a:solidFill>
          <a:ln w="12700">
            <a:solidFill>
              <a:srgbClr val="D97706"/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>
            <a:off x="4645152" y="3913632"/>
            <a:ext cx="36576" cy="1005840"/>
          </a:xfrm>
          <a:prstGeom prst="roundRect">
            <a:avLst>
              <a:gd name="adj" fmla="val 12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312664" y="3986784"/>
            <a:ext cx="512064" cy="16459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312664" y="3986784"/>
            <a:ext cx="5120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미구현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4754880" y="3986784"/>
            <a:ext cx="521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채팅 앱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754880" y="4261104"/>
            <a:ext cx="1051560" cy="7315"/>
          </a:xfrm>
          <a:prstGeom prst="rect">
            <a:avLst/>
          </a:prstGeom>
          <a:solidFill>
            <a:srgbClr val="FFE5C0"/>
          </a:solidFill>
          <a:ln/>
        </p:spPr>
      </p:sp>
      <p:sp>
        <p:nvSpPr>
          <p:cNvPr id="73" name="Shape 71"/>
          <p:cNvSpPr/>
          <p:nvPr/>
        </p:nvSpPr>
        <p:spPr>
          <a:xfrm>
            <a:off x="4773168" y="4334256"/>
            <a:ext cx="598932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73168" y="4334256"/>
            <a:ext cx="59893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React</a:t>
            </a:r>
            <a:endParaRPr lang="en-US" sz="780" dirty="0"/>
          </a:p>
        </p:txBody>
      </p:sp>
      <p:sp>
        <p:nvSpPr>
          <p:cNvPr id="75" name="Shape 73"/>
          <p:cNvSpPr/>
          <p:nvPr/>
        </p:nvSpPr>
        <p:spPr>
          <a:xfrm>
            <a:off x="4773168" y="4590288"/>
            <a:ext cx="960120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73168" y="4590288"/>
            <a:ext cx="9601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TypeScript</a:t>
            </a:r>
            <a:endParaRPr lang="en-US" sz="780" dirty="0"/>
          </a:p>
        </p:txBody>
      </p:sp>
      <p:sp>
        <p:nvSpPr>
          <p:cNvPr id="77" name="Shape 75"/>
          <p:cNvSpPr/>
          <p:nvPr/>
        </p:nvSpPr>
        <p:spPr>
          <a:xfrm>
            <a:off x="4773168" y="4846320"/>
            <a:ext cx="960120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73168" y="4846320"/>
            <a:ext cx="9601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SSE Client</a:t>
            </a:r>
            <a:endParaRPr lang="en-US" sz="780" dirty="0"/>
          </a:p>
        </p:txBody>
      </p:sp>
      <p:sp>
        <p:nvSpPr>
          <p:cNvPr id="79" name="Shape 77"/>
          <p:cNvSpPr/>
          <p:nvPr/>
        </p:nvSpPr>
        <p:spPr>
          <a:xfrm>
            <a:off x="4773168" y="5102352"/>
            <a:ext cx="1249070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47556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73168" y="5102352"/>
            <a:ext cx="124907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iframe sandbox</a:t>
            </a:r>
            <a:endParaRPr lang="en-US" sz="780" dirty="0"/>
          </a:p>
        </p:txBody>
      </p:sp>
      <p:sp>
        <p:nvSpPr>
          <p:cNvPr id="81" name="Shape 79"/>
          <p:cNvSpPr/>
          <p:nvPr/>
        </p:nvSpPr>
        <p:spPr>
          <a:xfrm>
            <a:off x="6099048" y="1536192"/>
            <a:ext cx="26974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99048" y="1536192"/>
            <a:ext cx="36576" cy="1005840"/>
          </a:xfrm>
          <a:prstGeom prst="roundRect">
            <a:avLst>
              <a:gd name="adj" fmla="val 12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227064" y="1627632"/>
            <a:ext cx="2496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PostgreSQL 16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6227064" y="1911096"/>
            <a:ext cx="2496312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5" name="Shape 83"/>
          <p:cNvSpPr/>
          <p:nvPr/>
        </p:nvSpPr>
        <p:spPr>
          <a:xfrm>
            <a:off x="6227064" y="1975104"/>
            <a:ext cx="815645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27064" y="1975104"/>
            <a:ext cx="815645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7C3AED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pgvector</a:t>
            </a:r>
            <a:endParaRPr lang="en-US" sz="780" dirty="0"/>
          </a:p>
        </p:txBody>
      </p:sp>
      <p:sp>
        <p:nvSpPr>
          <p:cNvPr id="87" name="Shape 85"/>
          <p:cNvSpPr/>
          <p:nvPr/>
        </p:nvSpPr>
        <p:spPr>
          <a:xfrm>
            <a:off x="7093001" y="1975104"/>
            <a:ext cx="1249070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47556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093001" y="1975104"/>
            <a:ext cx="124907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schema: llmonl</a:t>
            </a:r>
            <a:endParaRPr lang="en-US" sz="780" dirty="0"/>
          </a:p>
        </p:txBody>
      </p:sp>
      <p:sp>
        <p:nvSpPr>
          <p:cNvPr id="89" name="Shape 87"/>
          <p:cNvSpPr/>
          <p:nvPr/>
        </p:nvSpPr>
        <p:spPr>
          <a:xfrm>
            <a:off x="6227064" y="2231136"/>
            <a:ext cx="1104595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475569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227064" y="2231136"/>
            <a:ext cx="1104595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DDL validate</a:t>
            </a:r>
            <a:endParaRPr lang="en-US" sz="780" dirty="0"/>
          </a:p>
        </p:txBody>
      </p:sp>
      <p:sp>
        <p:nvSpPr>
          <p:cNvPr id="91" name="Shape 89"/>
          <p:cNvSpPr/>
          <p:nvPr/>
        </p:nvSpPr>
        <p:spPr>
          <a:xfrm>
            <a:off x="6227064" y="2487168"/>
            <a:ext cx="1393546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227064" y="2487168"/>
            <a:ext cx="1393546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7C3AED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artifact (JSONB)</a:t>
            </a:r>
            <a:endParaRPr lang="en-US" sz="780" dirty="0"/>
          </a:p>
        </p:txBody>
      </p:sp>
      <p:sp>
        <p:nvSpPr>
          <p:cNvPr id="93" name="Shape 91"/>
          <p:cNvSpPr/>
          <p:nvPr/>
        </p:nvSpPr>
        <p:spPr>
          <a:xfrm>
            <a:off x="6227064" y="2743200"/>
            <a:ext cx="1249070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227064" y="2743200"/>
            <a:ext cx="124907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artifact_share</a:t>
            </a:r>
            <a:endParaRPr lang="en-US" sz="780" dirty="0"/>
          </a:p>
        </p:txBody>
      </p:sp>
      <p:sp>
        <p:nvSpPr>
          <p:cNvPr id="95" name="Shape 93"/>
          <p:cNvSpPr/>
          <p:nvPr/>
        </p:nvSpPr>
        <p:spPr>
          <a:xfrm>
            <a:off x="6099048" y="2724912"/>
            <a:ext cx="26974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099048" y="2724912"/>
            <a:ext cx="36576" cy="1005840"/>
          </a:xfrm>
          <a:prstGeom prst="roundRect">
            <a:avLst>
              <a:gd name="adj" fmla="val 125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227064" y="2816352"/>
            <a:ext cx="2496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Langfuse v3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6227064" y="3099816"/>
            <a:ext cx="2496312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9" name="Shape 97"/>
          <p:cNvSpPr/>
          <p:nvPr/>
        </p:nvSpPr>
        <p:spPr>
          <a:xfrm>
            <a:off x="6227064" y="3163824"/>
            <a:ext cx="960120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475569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227064" y="3163824"/>
            <a:ext cx="9601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ClickHouse</a:t>
            </a:r>
            <a:endParaRPr lang="en-US" sz="780" dirty="0"/>
          </a:p>
        </p:txBody>
      </p:sp>
      <p:sp>
        <p:nvSpPr>
          <p:cNvPr id="101" name="Shape 99"/>
          <p:cNvSpPr/>
          <p:nvPr/>
        </p:nvSpPr>
        <p:spPr>
          <a:xfrm>
            <a:off x="7237476" y="3163824"/>
            <a:ext cx="598932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237476" y="3163824"/>
            <a:ext cx="59893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C262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Redis</a:t>
            </a:r>
            <a:endParaRPr lang="en-US" sz="780" dirty="0"/>
          </a:p>
        </p:txBody>
      </p:sp>
      <p:sp>
        <p:nvSpPr>
          <p:cNvPr id="103" name="Shape 101"/>
          <p:cNvSpPr/>
          <p:nvPr/>
        </p:nvSpPr>
        <p:spPr>
          <a:xfrm>
            <a:off x="7886700" y="3163824"/>
            <a:ext cx="598932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886700" y="3163824"/>
            <a:ext cx="59893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MinIO</a:t>
            </a:r>
            <a:endParaRPr lang="en-US" sz="780" dirty="0"/>
          </a:p>
        </p:txBody>
      </p:sp>
      <p:sp>
        <p:nvSpPr>
          <p:cNvPr id="105" name="Shape 103"/>
          <p:cNvSpPr/>
          <p:nvPr/>
        </p:nvSpPr>
        <p:spPr>
          <a:xfrm>
            <a:off x="6227064" y="3419856"/>
            <a:ext cx="671170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475569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227064" y="3419856"/>
            <a:ext cx="67117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Worker</a:t>
            </a:r>
            <a:endParaRPr lang="en-US" sz="780" dirty="0"/>
          </a:p>
        </p:txBody>
      </p:sp>
      <p:sp>
        <p:nvSpPr>
          <p:cNvPr id="107" name="Shape 105"/>
          <p:cNvSpPr/>
          <p:nvPr/>
        </p:nvSpPr>
        <p:spPr>
          <a:xfrm>
            <a:off x="6099048" y="3913632"/>
            <a:ext cx="26974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099048" y="3913632"/>
            <a:ext cx="36576" cy="1005840"/>
          </a:xfrm>
          <a:prstGeom prst="roundRect">
            <a:avLst>
              <a:gd name="adj" fmla="val 12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227064" y="4005072"/>
            <a:ext cx="2496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6227064" y="4288536"/>
            <a:ext cx="2496312" cy="73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6227064" y="4352544"/>
            <a:ext cx="960120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227064" y="4352544"/>
            <a:ext cx="9601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Prometheus</a:t>
            </a:r>
            <a:endParaRPr lang="en-US" sz="780" dirty="0"/>
          </a:p>
        </p:txBody>
      </p:sp>
      <p:sp>
        <p:nvSpPr>
          <p:cNvPr id="113" name="Shape 111"/>
          <p:cNvSpPr/>
          <p:nvPr/>
        </p:nvSpPr>
        <p:spPr>
          <a:xfrm>
            <a:off x="7237476" y="4352544"/>
            <a:ext cx="743407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0891B2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237476" y="4352544"/>
            <a:ext cx="743407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891B2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Grafana</a:t>
            </a:r>
            <a:endParaRPr lang="en-US" sz="780" dirty="0"/>
          </a:p>
        </p:txBody>
      </p:sp>
      <p:sp>
        <p:nvSpPr>
          <p:cNvPr id="115" name="Shape 113"/>
          <p:cNvSpPr/>
          <p:nvPr/>
        </p:nvSpPr>
        <p:spPr>
          <a:xfrm>
            <a:off x="8031175" y="4352544"/>
            <a:ext cx="526694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031175" y="4352544"/>
            <a:ext cx="526694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Loki</a:t>
            </a:r>
            <a:endParaRPr lang="en-US" sz="780" dirty="0"/>
          </a:p>
        </p:txBody>
      </p:sp>
      <p:sp>
        <p:nvSpPr>
          <p:cNvPr id="117" name="Shape 115"/>
          <p:cNvSpPr/>
          <p:nvPr/>
        </p:nvSpPr>
        <p:spPr>
          <a:xfrm>
            <a:off x="6227064" y="4608576"/>
            <a:ext cx="815645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475569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227064" y="4608576"/>
            <a:ext cx="815645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Promtail</a:t>
            </a:r>
            <a:endParaRPr lang="en-US" sz="780" dirty="0"/>
          </a:p>
        </p:txBody>
      </p:sp>
      <p:sp>
        <p:nvSpPr>
          <p:cNvPr id="119" name="Shape 117"/>
          <p:cNvSpPr/>
          <p:nvPr/>
        </p:nvSpPr>
        <p:spPr>
          <a:xfrm>
            <a:off x="7093001" y="4608576"/>
            <a:ext cx="815645" cy="19202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8890">
            <a:solidFill>
              <a:srgbClr val="475569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093001" y="4608576"/>
            <a:ext cx="815645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cAdvisor</a:t>
            </a:r>
            <a:endParaRPr lang="en-US" sz="780" dirty="0"/>
          </a:p>
        </p:txBody>
      </p:sp>
      <p:sp>
        <p:nvSpPr>
          <p:cNvPr id="121" name="Shape 119"/>
          <p:cNvSpPr/>
          <p:nvPr/>
        </p:nvSpPr>
        <p:spPr>
          <a:xfrm>
            <a:off x="1554480" y="3227832"/>
            <a:ext cx="201168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22" name="Shape 120"/>
          <p:cNvSpPr/>
          <p:nvPr/>
        </p:nvSpPr>
        <p:spPr>
          <a:xfrm>
            <a:off x="3108960" y="3227832"/>
            <a:ext cx="109728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none"/>
          </a:ln>
        </p:spPr>
      </p:sp>
      <p:sp>
        <p:nvSpPr>
          <p:cNvPr id="123" name="Shape 121"/>
          <p:cNvSpPr/>
          <p:nvPr/>
        </p:nvSpPr>
        <p:spPr>
          <a:xfrm>
            <a:off x="3218688" y="2039112"/>
            <a:ext cx="0" cy="237744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none"/>
          </a:ln>
        </p:spPr>
      </p:sp>
      <p:sp>
        <p:nvSpPr>
          <p:cNvPr id="124" name="Shape 122"/>
          <p:cNvSpPr/>
          <p:nvPr/>
        </p:nvSpPr>
        <p:spPr>
          <a:xfrm>
            <a:off x="3218688" y="2039112"/>
            <a:ext cx="11887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25" name="Shape 123"/>
          <p:cNvSpPr/>
          <p:nvPr/>
        </p:nvSpPr>
        <p:spPr>
          <a:xfrm>
            <a:off x="3218688" y="3227832"/>
            <a:ext cx="11887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26" name="Shape 124"/>
          <p:cNvSpPr/>
          <p:nvPr/>
        </p:nvSpPr>
        <p:spPr>
          <a:xfrm>
            <a:off x="3218688" y="4416552"/>
            <a:ext cx="11887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27" name="Shape 125"/>
          <p:cNvSpPr/>
          <p:nvPr/>
        </p:nvSpPr>
        <p:spPr>
          <a:xfrm>
            <a:off x="5879592" y="2039112"/>
            <a:ext cx="219456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28" name="Shape 126"/>
          <p:cNvSpPr/>
          <p:nvPr/>
        </p:nvSpPr>
        <p:spPr>
          <a:xfrm>
            <a:off x="5879592" y="3227832"/>
            <a:ext cx="219456" cy="-64008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29" name="Shape 127"/>
          <p:cNvSpPr/>
          <p:nvPr/>
        </p:nvSpPr>
        <p:spPr>
          <a:xfrm>
            <a:off x="5879592" y="3227832"/>
            <a:ext cx="219456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30" name="Shape 128"/>
          <p:cNvSpPr/>
          <p:nvPr/>
        </p:nvSpPr>
        <p:spPr>
          <a:xfrm>
            <a:off x="5879592" y="3227832"/>
            <a:ext cx="219456" cy="1371600"/>
          </a:xfrm>
          <a:prstGeom prst="line">
            <a:avLst/>
          </a:prstGeom>
          <a:noFill/>
          <a:ln w="15240">
            <a:solidFill>
              <a:srgbClr val="CBD5E1"/>
            </a:solidFill>
            <a:prstDash val="sysDot"/>
            <a:tailEnd type="triangle"/>
          </a:ln>
        </p:spPr>
      </p:sp>
      <p:sp>
        <p:nvSpPr>
          <p:cNvPr id="131" name="Shape 129"/>
          <p:cNvSpPr/>
          <p:nvPr/>
        </p:nvSpPr>
        <p:spPr>
          <a:xfrm>
            <a:off x="3474720" y="2532888"/>
            <a:ext cx="1920240" cy="201168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474720" y="253288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JWT HS256  공유 SECRET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4434840" y="2542032"/>
            <a:ext cx="0" cy="182880"/>
          </a:xfrm>
          <a:prstGeom prst="line">
            <a:avLst/>
          </a:prstGeom>
          <a:noFill/>
          <a:ln w="10160">
            <a:solidFill>
              <a:srgbClr val="FCD34D"/>
            </a:solidFill>
            <a:prstDash val="sysDot"/>
            <a:tailEnd type="none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868680"/>
            <a:ext cx="36576" cy="5029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046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" y="8046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서비스별 상세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" y="1280160"/>
            <a:ext cx="2724912" cy="658368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3350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platform-server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0624" y="159105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DBFE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Spring Boot 3.4 · Java 21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92608" y="2011680"/>
            <a:ext cx="2724912" cy="2304288"/>
          </a:xfrm>
          <a:prstGeom prst="roundRect">
            <a:avLst>
              <a:gd name="adj" fmla="val 2381"/>
            </a:avLst>
          </a:prstGeom>
          <a:solidFill>
            <a:srgbClr val="EFF6FF"/>
          </a:solidFill>
          <a:ln w="762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2157984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2103120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회원가입 · 로그인 · JWT 발급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2336" y="257860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2523744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사용자 관리  (역할 · 승인)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02336" y="2999232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2944368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API 키  발급 · 폐기 · 목록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02336" y="341985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3364992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LLM 리소스 설정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02336" y="3840480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3785616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Refresh Token 관리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" y="4462272"/>
            <a:ext cx="876910" cy="219456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4462272"/>
            <a:ext cx="87691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Java 21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279246" y="4462272"/>
            <a:ext cx="1231697" cy="219456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79246" y="4462272"/>
            <a:ext cx="123169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Spring Boot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47472" y="4718304"/>
            <a:ext cx="1586484" cy="219456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016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718304"/>
            <a:ext cx="15864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Spring Security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47472" y="4974336"/>
            <a:ext cx="1054303" cy="219456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4974336"/>
            <a:ext cx="105430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JWT HS256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456639" y="4974336"/>
            <a:ext cx="685800" cy="219456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0160">
            <a:solidFill>
              <a:srgbClr val="4755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56639" y="4974336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JPA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47472" y="5230368"/>
            <a:ext cx="1143000" cy="219456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5230368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PostgreSQL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00400" y="1280160"/>
            <a:ext cx="2907792" cy="658368"/>
          </a:xfrm>
          <a:prstGeom prst="roundRect">
            <a:avLst>
              <a:gd name="adj" fmla="val 8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28416" y="13350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orchestrator-server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28416" y="159105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F7D0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FastAPI · LangGraph · Python 3.13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0" y="2011680"/>
            <a:ext cx="2907792" cy="2304288"/>
          </a:xfrm>
          <a:prstGeom prst="roundRect">
            <a:avLst>
              <a:gd name="adj" fmla="val 2381"/>
            </a:avLst>
          </a:prstGeom>
          <a:solidFill>
            <a:srgbClr val="F0FDF4"/>
          </a:solidFill>
          <a:ln w="7620">
            <a:solidFill>
              <a:srgbClr val="0596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10128" y="2157984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11296" y="2103120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LLM 채팅  (SSE 스트리밍 · 멀티턴)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310128" y="2578608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11296" y="2523744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RAG 파이프라인  (pgvector 검색)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10128" y="2999232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11296" y="294436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AI 에이전트  (LangGraph ReAct)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310128" y="3419856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11296" y="336499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아티팩트 생성 · 저장 · 공유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310128" y="3840480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11296" y="3785616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Langfuse 트레이싱 연동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55264" y="4462272"/>
            <a:ext cx="1231697" cy="219456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55264" y="4462272"/>
            <a:ext cx="123169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Python 3.13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41825" y="4462272"/>
            <a:ext cx="876910" cy="219456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41825" y="4462272"/>
            <a:ext cx="87691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FastAPI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255264" y="4718304"/>
            <a:ext cx="1054303" cy="219456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55264" y="4718304"/>
            <a:ext cx="105430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LangGraph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364431" y="4718304"/>
            <a:ext cx="965606" cy="219456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0160">
            <a:solidFill>
              <a:srgbClr val="4755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64431" y="4718304"/>
            <a:ext cx="96560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SQLModel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255264" y="4974336"/>
            <a:ext cx="965606" cy="219456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55264" y="4974336"/>
            <a:ext cx="96560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pgvector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275734" y="4974336"/>
            <a:ext cx="1143000" cy="219456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0160">
            <a:solidFill>
              <a:srgbClr val="4755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75734" y="4974336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OpenAI SDK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291072" y="1280160"/>
            <a:ext cx="2560320" cy="658368"/>
          </a:xfrm>
          <a:prstGeom prst="roundRect">
            <a:avLst>
              <a:gd name="adj" fmla="val 833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19088" y="1335024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admin-front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419088" y="1591056"/>
            <a:ext cx="2395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F3FC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Next.js 16 · TypeScript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291072" y="2011680"/>
            <a:ext cx="2560320" cy="2304288"/>
          </a:xfrm>
          <a:prstGeom prst="roundRect">
            <a:avLst>
              <a:gd name="adj" fmla="val 2381"/>
            </a:avLst>
          </a:prstGeom>
          <a:solidFill>
            <a:srgbClr val="ECFEFF"/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00800" y="2157984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01968" y="2103120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사용자 관리 대시보드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400800" y="2578608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01968" y="2523744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API 키 발급 · 폐기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400800" y="2999232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01968" y="2944368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LLM 리소스 설정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400800" y="3419856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01968" y="3364992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관찰가능성 뷰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400800" y="3840480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601968" y="3785616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역할 기반 접근 제어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345936" y="4462272"/>
            <a:ext cx="1143000" cy="219456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45936" y="4462272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Next.js 16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543800" y="4462272"/>
            <a:ext cx="1143000" cy="219456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543800" y="4462272"/>
            <a:ext cx="1143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6345936" y="4718304"/>
            <a:ext cx="685800" cy="219456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0160">
            <a:solidFill>
              <a:srgbClr val="47556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345936" y="4718304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pnpm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7086600" y="4718304"/>
            <a:ext cx="699516" cy="219456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0160">
            <a:solidFill>
              <a:srgbClr val="47556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086600" y="4718304"/>
            <a:ext cx="6995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Axios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7840980" y="4718304"/>
            <a:ext cx="965606" cy="219456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840980" y="4718304"/>
            <a:ext cx="96560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Tailwind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108960" y="1280160"/>
            <a:ext cx="0" cy="3474720"/>
          </a:xfrm>
          <a:prstGeom prst="line">
            <a:avLst/>
          </a:prstGeom>
          <a:noFill/>
          <a:ln w="10160">
            <a:solidFill>
              <a:srgbClr val="E2E8F0"/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>
            <a:off x="6199632" y="1280160"/>
            <a:ext cx="0" cy="3474720"/>
          </a:xfrm>
          <a:prstGeom prst="line">
            <a:avLst/>
          </a:prstGeom>
          <a:noFill/>
          <a:ln w="10160">
            <a:solidFill>
              <a:srgbClr val="E2E8F0"/>
            </a:solidFill>
            <a:prstDash val="dash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868680"/>
            <a:ext cx="36576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046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" y="8046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서비스 흐름도  —  LLM 채팅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329184" y="1261872"/>
            <a:ext cx="1170432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" y="1261872"/>
            <a:ext cx="1170432" cy="457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" y="1316736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클라이언트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14400" y="1792224"/>
            <a:ext cx="0" cy="3154680"/>
          </a:xfrm>
          <a:prstGeom prst="line">
            <a:avLst/>
          </a:prstGeom>
          <a:noFill/>
          <a:ln w="10160">
            <a:solidFill>
              <a:srgbClr val="E2E8F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901952" y="1261872"/>
            <a:ext cx="1170432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1952" y="1261872"/>
            <a:ext cx="1170432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1901952" y="1316736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platform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-server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87168" y="1792224"/>
            <a:ext cx="0" cy="3154680"/>
          </a:xfrm>
          <a:prstGeom prst="line">
            <a:avLst/>
          </a:prstGeom>
          <a:noFill/>
          <a:ln w="10160">
            <a:solidFill>
              <a:srgbClr val="E2E8F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849624" y="1261872"/>
            <a:ext cx="1170432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9624" y="1261872"/>
            <a:ext cx="1170432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3849624" y="1316736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orchestrator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-server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434840" y="1792224"/>
            <a:ext cx="0" cy="3154680"/>
          </a:xfrm>
          <a:prstGeom prst="line">
            <a:avLst/>
          </a:prstGeom>
          <a:noFill/>
          <a:ln w="10160">
            <a:solidFill>
              <a:srgbClr val="E2E8F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769864" y="1261872"/>
            <a:ext cx="1170432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9864" y="1261872"/>
            <a:ext cx="1170432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5769864" y="1316736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OpenAI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GPT API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355080" y="1792224"/>
            <a:ext cx="0" cy="3154680"/>
          </a:xfrm>
          <a:prstGeom prst="line">
            <a:avLst/>
          </a:prstGeom>
          <a:noFill/>
          <a:ln w="10160">
            <a:solidFill>
              <a:srgbClr val="E2E8F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690104" y="1261872"/>
            <a:ext cx="1170432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0104" y="1261872"/>
            <a:ext cx="1170432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7690104" y="1316736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275320" y="1792224"/>
            <a:ext cx="0" cy="3154680"/>
          </a:xfrm>
          <a:prstGeom prst="line">
            <a:avLst/>
          </a:prstGeom>
          <a:noFill/>
          <a:ln w="10160">
            <a:solidFill>
              <a:srgbClr val="E2E8F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09728" y="1700784"/>
            <a:ext cx="548640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" y="1700784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인증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09728" y="1920240"/>
            <a:ext cx="8924544" cy="0"/>
          </a:xfrm>
          <a:prstGeom prst="line">
            <a:avLst/>
          </a:prstGeom>
          <a:noFill/>
          <a:ln w="5080">
            <a:solidFill>
              <a:srgbClr val="2563EB"/>
            </a:solidFill>
            <a:prstDash val="dot"/>
          </a:ln>
        </p:spPr>
      </p:sp>
      <p:sp>
        <p:nvSpPr>
          <p:cNvPr id="30" name="Shape 28"/>
          <p:cNvSpPr/>
          <p:nvPr/>
        </p:nvSpPr>
        <p:spPr>
          <a:xfrm>
            <a:off x="914400" y="1901952"/>
            <a:ext cx="1572768" cy="0"/>
          </a:xfrm>
          <a:prstGeom prst="line">
            <a:avLst/>
          </a:prstGeom>
          <a:noFill/>
          <a:ln w="15240">
            <a:solidFill>
              <a:srgbClr val="1E293B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591056" y="1664208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91056" y="166420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69264" y="1709928"/>
            <a:ext cx="14813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로그인 요청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487168" y="1911096"/>
            <a:ext cx="5788152" cy="0"/>
          </a:xfrm>
          <a:prstGeom prst="line">
            <a:avLst/>
          </a:prstGeom>
          <a:noFill/>
          <a:ln w="15240">
            <a:solidFill>
              <a:srgbClr val="1E293B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2542032" y="1719072"/>
            <a:ext cx="569671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사용자 조회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487168" y="2157984"/>
            <a:ext cx="5788152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  <a:headEnd type="triangl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2542032" y="2185416"/>
            <a:ext cx="569671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사용자 확인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14400" y="2157984"/>
            <a:ext cx="1572768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  <a:headEnd type="triangl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1591056" y="1920240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91056" y="192024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969264" y="2185416"/>
            <a:ext cx="14813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JWT 발급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9728" y="2468880"/>
            <a:ext cx="548640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9728" y="2468880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채팅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09728" y="2688336"/>
            <a:ext cx="8924544" cy="0"/>
          </a:xfrm>
          <a:prstGeom prst="line">
            <a:avLst/>
          </a:prstGeom>
          <a:noFill/>
          <a:ln w="5080">
            <a:solidFill>
              <a:srgbClr val="059669"/>
            </a:solidFill>
            <a:prstDash val="dot"/>
          </a:ln>
        </p:spPr>
      </p:sp>
      <p:sp>
        <p:nvSpPr>
          <p:cNvPr id="45" name="Shape 43"/>
          <p:cNvSpPr/>
          <p:nvPr/>
        </p:nvSpPr>
        <p:spPr>
          <a:xfrm>
            <a:off x="914400" y="2615184"/>
            <a:ext cx="3520440" cy="0"/>
          </a:xfrm>
          <a:prstGeom prst="line">
            <a:avLst/>
          </a:prstGeom>
          <a:noFill/>
          <a:ln w="15240">
            <a:solidFill>
              <a:srgbClr val="1E293B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2564892" y="2377440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64892" y="237744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969264" y="2423160"/>
            <a:ext cx="34290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채팅 요청 + JWT  (via Nginx)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705149" y="2798064"/>
            <a:ext cx="1459382" cy="192024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762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05149" y="2798064"/>
            <a:ext cx="145938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JWT 검증 (공유 SECRET)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434840" y="3072384"/>
            <a:ext cx="3840480" cy="0"/>
          </a:xfrm>
          <a:prstGeom prst="line">
            <a:avLst/>
          </a:prstGeom>
          <a:noFill/>
          <a:ln w="15240">
            <a:solidFill>
              <a:srgbClr val="1E293B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6245352" y="2834640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45352" y="283464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489704" y="2880360"/>
            <a:ext cx="37490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대화 이력 조회 (session_id)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434840" y="3310128"/>
            <a:ext cx="384048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  <a:headEnd type="triangle"/>
            <a:tailEnd type="none"/>
          </a:ln>
        </p:spPr>
      </p:sp>
      <p:sp>
        <p:nvSpPr>
          <p:cNvPr id="56" name="Text 54"/>
          <p:cNvSpPr/>
          <p:nvPr/>
        </p:nvSpPr>
        <p:spPr>
          <a:xfrm>
            <a:off x="4489704" y="3337560"/>
            <a:ext cx="37490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이전 대화 이력 반환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434840" y="3621024"/>
            <a:ext cx="1920240" cy="0"/>
          </a:xfrm>
          <a:prstGeom prst="line">
            <a:avLst/>
          </a:prstGeom>
          <a:noFill/>
          <a:ln w="15240">
            <a:solidFill>
              <a:srgbClr val="1E293B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5285232" y="3383280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85232" y="338328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489704" y="3429000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ChatCompletion 요청 (GPT-4o, 이력 포함)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434840" y="3867912"/>
            <a:ext cx="192024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  <a:headEnd type="triangle"/>
            <a:tailEnd type="none"/>
          </a:ln>
        </p:spPr>
      </p:sp>
      <p:sp>
        <p:nvSpPr>
          <p:cNvPr id="62" name="Text 60"/>
          <p:cNvSpPr/>
          <p:nvPr/>
        </p:nvSpPr>
        <p:spPr>
          <a:xfrm>
            <a:off x="4489704" y="3895344"/>
            <a:ext cx="18288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응답 토큰 스트리밍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14400" y="4169664"/>
            <a:ext cx="352044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  <a:headEnd type="triangle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2564892" y="3931920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564892" y="39319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969264" y="4197096"/>
            <a:ext cx="34290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SSE 스트림 전송 (실시간)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434840" y="4443984"/>
            <a:ext cx="3840480" cy="0"/>
          </a:xfrm>
          <a:prstGeom prst="line">
            <a:avLst/>
          </a:prstGeom>
          <a:noFill/>
          <a:ln w="15240">
            <a:solidFill>
              <a:srgbClr val="1E293B"/>
            </a:solidFill>
            <a:prstDash val="solid"/>
            <a:headEnd type="none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6245352" y="4206240"/>
            <a:ext cx="219456" cy="21945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45352" y="420624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489704" y="4251960"/>
            <a:ext cx="37490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대화 기록 저장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434840" y="4690872"/>
            <a:ext cx="3840480" cy="0"/>
          </a:xfrm>
          <a:prstGeom prst="line">
            <a:avLst/>
          </a:prstGeom>
          <a:noFill/>
          <a:ln w="11430">
            <a:solidFill>
              <a:srgbClr val="7C3AED"/>
            </a:solidFill>
            <a:prstDash val="dash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5303520" y="4517136"/>
            <a:ext cx="2103120" cy="182880"/>
          </a:xfrm>
          <a:prstGeom prst="roundRect">
            <a:avLst>
              <a:gd name="adj" fmla="val 15000"/>
            </a:avLst>
          </a:prstGeom>
          <a:solidFill>
            <a:srgbClr val="F5F3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03520" y="451713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8  아티팩트 감지 시  →  POST /artifacts (view + data 저장)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868680"/>
            <a:ext cx="36576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046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" y="8046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서비스 흐름도  —  RAG 지식 검색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342900" y="1261872"/>
            <a:ext cx="123444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" y="1261872"/>
            <a:ext cx="1234440" cy="457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" y="1316736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클라이언트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60120" y="1792224"/>
            <a:ext cx="0" cy="3154680"/>
          </a:xfrm>
          <a:prstGeom prst="line">
            <a:avLst/>
          </a:prstGeom>
          <a:noFill/>
          <a:ln w="10160">
            <a:solidFill>
              <a:srgbClr val="E2E8F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308860" y="1261872"/>
            <a:ext cx="123444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08860" y="1261872"/>
            <a:ext cx="123444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2308860" y="1316736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orchestrator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-server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926080" y="1792224"/>
            <a:ext cx="0" cy="3154680"/>
          </a:xfrm>
          <a:prstGeom prst="line">
            <a:avLst/>
          </a:prstGeom>
          <a:noFill/>
          <a:ln w="10160">
            <a:solidFill>
              <a:srgbClr val="E2E8F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549140" y="1261872"/>
            <a:ext cx="123444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49140" y="1261872"/>
            <a:ext cx="123444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549140" y="1316736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OpenAI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Embeddings API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166360" y="1792224"/>
            <a:ext cx="0" cy="3154680"/>
          </a:xfrm>
          <a:prstGeom prst="line">
            <a:avLst/>
          </a:prstGeom>
          <a:noFill/>
          <a:ln w="10160">
            <a:solidFill>
              <a:srgbClr val="E2E8F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332220" y="1261872"/>
            <a:ext cx="123444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32220" y="1261872"/>
            <a:ext cx="12344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332220" y="1316736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OpenAI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Chat API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949440" y="1792224"/>
            <a:ext cx="0" cy="3154680"/>
          </a:xfrm>
          <a:prstGeom prst="line">
            <a:avLst/>
          </a:prstGeom>
          <a:noFill/>
          <a:ln w="10160">
            <a:solidFill>
              <a:srgbClr val="E2E8F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8069580" y="1261872"/>
            <a:ext cx="123444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69580" y="1261872"/>
            <a:ext cx="12344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8069580" y="1316736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pgvector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(PostgreSQL)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686800" y="1792224"/>
            <a:ext cx="0" cy="3154680"/>
          </a:xfrm>
          <a:prstGeom prst="line">
            <a:avLst/>
          </a:prstGeom>
          <a:noFill/>
          <a:ln w="10160">
            <a:solidFill>
              <a:srgbClr val="E2E8F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09728" y="1700784"/>
            <a:ext cx="621792" cy="2194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" y="1700784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문서 색인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09728" y="1920240"/>
            <a:ext cx="8924544" cy="0"/>
          </a:xfrm>
          <a:prstGeom prst="line">
            <a:avLst/>
          </a:prstGeom>
          <a:noFill/>
          <a:ln w="5080">
            <a:solidFill>
              <a:srgbClr val="2563EB"/>
            </a:solidFill>
            <a:prstDash val="dot"/>
          </a:ln>
        </p:spPr>
      </p:sp>
      <p:sp>
        <p:nvSpPr>
          <p:cNvPr id="30" name="Shape 28"/>
          <p:cNvSpPr/>
          <p:nvPr/>
        </p:nvSpPr>
        <p:spPr>
          <a:xfrm>
            <a:off x="960120" y="1901952"/>
            <a:ext cx="1965960" cy="0"/>
          </a:xfrm>
          <a:prstGeom prst="line">
            <a:avLst/>
          </a:prstGeom>
          <a:noFill/>
          <a:ln w="15240">
            <a:solidFill>
              <a:srgbClr val="1E293B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833372" y="1664208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33372" y="166420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14984" y="1709928"/>
            <a:ext cx="1874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문서 업로드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926080" y="2286000"/>
            <a:ext cx="2240280" cy="0"/>
          </a:xfrm>
          <a:prstGeom prst="line">
            <a:avLst/>
          </a:prstGeom>
          <a:noFill/>
          <a:ln w="15240">
            <a:solidFill>
              <a:srgbClr val="1E293B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936492" y="2048256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6492" y="204825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980944" y="2093976"/>
            <a:ext cx="21488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임베딩 요청 (text-embedding-3)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926080" y="2523744"/>
            <a:ext cx="224028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  <a:headEnd type="triangle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2980944" y="2551176"/>
            <a:ext cx="21488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벡터 데이터 반환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926080" y="2816352"/>
            <a:ext cx="5760720" cy="0"/>
          </a:xfrm>
          <a:prstGeom prst="line">
            <a:avLst/>
          </a:prstGeom>
          <a:noFill/>
          <a:ln w="15240">
            <a:solidFill>
              <a:srgbClr val="1E293B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696712" y="2578608"/>
            <a:ext cx="219456" cy="2194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96712" y="257860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980944" y="2624328"/>
            <a:ext cx="56692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벡터 저장 (INSERT)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09728" y="3200400"/>
            <a:ext cx="621792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9728" y="3200400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검색 · 답변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09728" y="3419856"/>
            <a:ext cx="8924544" cy="0"/>
          </a:xfrm>
          <a:prstGeom prst="line">
            <a:avLst/>
          </a:prstGeom>
          <a:noFill/>
          <a:ln w="5080">
            <a:solidFill>
              <a:srgbClr val="0891B2"/>
            </a:solidFill>
            <a:prstDash val="dot"/>
          </a:ln>
        </p:spPr>
      </p:sp>
      <p:sp>
        <p:nvSpPr>
          <p:cNvPr id="47" name="Shape 45"/>
          <p:cNvSpPr/>
          <p:nvPr/>
        </p:nvSpPr>
        <p:spPr>
          <a:xfrm>
            <a:off x="960120" y="3346704"/>
            <a:ext cx="1965960" cy="0"/>
          </a:xfrm>
          <a:prstGeom prst="line">
            <a:avLst/>
          </a:prstGeom>
          <a:noFill/>
          <a:ln w="15240">
            <a:solidFill>
              <a:srgbClr val="1E293B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1833372" y="3108960"/>
            <a:ext cx="219456" cy="21945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33372" y="31089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014984" y="3154680"/>
            <a:ext cx="1874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질문 입력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926080" y="3730752"/>
            <a:ext cx="2240280" cy="0"/>
          </a:xfrm>
          <a:prstGeom prst="line">
            <a:avLst/>
          </a:prstGeom>
          <a:noFill/>
          <a:ln w="15240">
            <a:solidFill>
              <a:srgbClr val="1E293B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3936492" y="3493008"/>
            <a:ext cx="219456" cy="21945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936492" y="349300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2980944" y="3538728"/>
            <a:ext cx="21488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질문 임베딩 요청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926080" y="3968496"/>
            <a:ext cx="224028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  <a:headEnd type="triangle"/>
            <a:tailEnd type="none"/>
          </a:ln>
        </p:spPr>
      </p:sp>
      <p:sp>
        <p:nvSpPr>
          <p:cNvPr id="56" name="Text 54"/>
          <p:cNvSpPr/>
          <p:nvPr/>
        </p:nvSpPr>
        <p:spPr>
          <a:xfrm>
            <a:off x="2980944" y="3995928"/>
            <a:ext cx="21488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쿼리 벡터 반환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926080" y="4261104"/>
            <a:ext cx="5760720" cy="0"/>
          </a:xfrm>
          <a:prstGeom prst="line">
            <a:avLst/>
          </a:prstGeom>
          <a:noFill/>
          <a:ln w="15240">
            <a:solidFill>
              <a:srgbClr val="1E293B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5696712" y="4023360"/>
            <a:ext cx="219456" cy="21945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96712" y="402336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2980944" y="4069080"/>
            <a:ext cx="56692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cosine 유사도 검색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926080" y="4498848"/>
            <a:ext cx="576072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  <a:headEnd type="triangle"/>
            <a:tailEnd type="none"/>
          </a:ln>
        </p:spPr>
      </p:sp>
      <p:sp>
        <p:nvSpPr>
          <p:cNvPr id="62" name="Text 60"/>
          <p:cNvSpPr/>
          <p:nvPr/>
        </p:nvSpPr>
        <p:spPr>
          <a:xfrm>
            <a:off x="2980944" y="4526280"/>
            <a:ext cx="56692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관련 문서 청크 반환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926080" y="4773168"/>
            <a:ext cx="4023360" cy="0"/>
          </a:xfrm>
          <a:prstGeom prst="line">
            <a:avLst/>
          </a:prstGeom>
          <a:noFill/>
          <a:ln w="15240">
            <a:solidFill>
              <a:srgbClr val="1E293B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4828032" y="4535424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28032" y="453542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2980944" y="4581144"/>
            <a:ext cx="3931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RAG 컨텍스트 + 질문 (GPT-4o)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926080" y="5010912"/>
            <a:ext cx="402336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  <a:headEnd type="triangle"/>
            <a:tailEnd type="none"/>
          </a:ln>
        </p:spPr>
      </p:sp>
      <p:sp>
        <p:nvSpPr>
          <p:cNvPr id="68" name="Text 66"/>
          <p:cNvSpPr/>
          <p:nvPr/>
        </p:nvSpPr>
        <p:spPr>
          <a:xfrm>
            <a:off x="2980944" y="5038344"/>
            <a:ext cx="39319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답변 생성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960120" y="5212080"/>
            <a:ext cx="196596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dash"/>
            <a:headEnd type="triangle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1833372" y="4974336"/>
            <a:ext cx="219456" cy="21945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833372" y="49743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1014984" y="5239512"/>
            <a:ext cx="18745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최종 답변 전송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868680"/>
            <a:ext cx="36576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046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" y="8046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JWT &amp; 인증 흐름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32588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Client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요청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0" y="1783080"/>
            <a:ext cx="256032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42032" y="132588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platform-server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42032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JWT 발급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(HS256)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62272" y="1783080"/>
            <a:ext cx="256032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718304" y="132588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Nginx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18304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라우팅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38544" y="1783080"/>
            <a:ext cx="256032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894576" y="132588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94576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orchestrator-server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94576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JWT 검증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(동일 SECRET)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JWT Payload  (서비스 간 공유 계약)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724912"/>
            <a:ext cx="8229600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788920"/>
            <a:ext cx="7955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 "sub": "&lt;user_id&gt;",  "username": "...",  "email": "...",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"role": "USER | ADMIN | SUPERADMIN | MANAGER | CASHIER",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"iat": 0,  "exp": 0,  "jti": "&lt;uuid&gt;"  }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069080"/>
            <a:ext cx="36576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11480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JWT_SECRET_KEY 는 platform-server 와 orchestrator-server 가 반드시 동일해야 합니다 — 다를 경우 401 오류 발생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868680"/>
            <a:ext cx="36576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046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" y="8046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데이터 레이어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9844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PostgreSQL  +  pgvector  (schema: llmonl)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53035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45920"/>
            <a:ext cx="36576" cy="8412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70078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platform-server 소유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993392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users, api_key, refresh_token, llm_resource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ddl-auto: none(local) / validate(prod)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53035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06040"/>
            <a:ext cx="36576" cy="8412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6609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orchestrator-server 소유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953512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session, gpt_chat_message, rag_embedding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artifact, artifact_share  ★  SQLModel ORM — 기동 시 자동 생성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89320" y="12984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Langfuse v3  (LLM 트레이싱)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1645920"/>
            <a:ext cx="2834640" cy="1801368"/>
          </a:xfrm>
          <a:prstGeom prst="roundRect">
            <a:avLst>
              <a:gd name="adj" fmla="val 30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7556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·  ClickHouse  — 트레이스 저장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26480" y="215798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·  Redis  — 작업 큐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26480" y="2560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·  MinIO  — 이벤트 blob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26480" y="296265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·  Worker  — ClickHouse 처리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3657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RAG 파이프라인 흐름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005072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문서 업로드  →  텍스트 청킹  →  OpenAI Embeddings  →  pgvector INSERT  →  cosine similarity 검색  →  LLM 프롬프트 주입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868680"/>
            <a:ext cx="36576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046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" y="8046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운영·관찰가능성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25880"/>
            <a:ext cx="41148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25880"/>
            <a:ext cx="41148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630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Prometheus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85623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FastAPI /metrics + cAdvisor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15s 스크레이핑 · 컨테이너 메트릭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325880"/>
            <a:ext cx="41148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325880"/>
            <a:ext cx="41148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4630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Grafana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85623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Prometheus 데이터소스 자동 연결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애플리케이션·인프라·DB 대시보드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1148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017520"/>
            <a:ext cx="41148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546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Loki + Promtail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54787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컨테이너 로그 수집·집계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Grafana 에서 로그·메트릭 통합 조회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017520"/>
            <a:ext cx="41148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3017520"/>
            <a:ext cx="411480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1546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Langfuse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354787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LLM 프롬프트·응답 트레이싱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모델별 비용·지연 시간 분석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868680"/>
            <a:ext cx="36576" cy="5029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046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" y="8046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배포 전략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25880"/>
            <a:ext cx="411480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25880"/>
            <a:ext cx="41148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447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Docker Compose  (단일 서버)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188366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·  nginx + platform + orchestrator + admin-front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24505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·  PostgreSQL + pgvector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0175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·  Prometheus + Grafana + Loki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5844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·  Langfuse (ClickHouse + Redis + MinIO)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415137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·  ./deploy.sh staging | production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1325880"/>
            <a:ext cx="411480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1325880"/>
            <a:ext cx="411480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14447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Kubernetes  (HA 이중화)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83480" y="188366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·  platform·orchestrator replicas: 2 + HPA·PDB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83480" y="24505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·  CloudNativePG (primary + replica)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83480" y="30175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·  Redis Sentinel (고가용성)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358444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·  MinIO 4-pod distributed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83480" y="415137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·  deploy/k8s/ 매니페스트 관리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70832" y="28346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단일 서버 운영 → 트래픽·팀 규모 증가 시 코드 변경 없이 Kubernetes 전환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868680"/>
            <a:ext cx="36576" cy="5029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0467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8992" y="8046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핵심 설계 결정 &amp; 트레이드오프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228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2588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25880"/>
            <a:ext cx="36576" cy="7772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38074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Spring Boot + FastAPI 혼합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139903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✓  Java: 안정적 인증·트랜잭션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35040" y="139903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△  Python: LLM/AI 생태계 완전 활용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54680" y="1435608"/>
            <a:ext cx="9144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5989320" y="1435608"/>
            <a:ext cx="9144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221992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221992"/>
            <a:ext cx="36576" cy="7772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27685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JWT 직접 검증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2295144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✓  네트워크 왕복 없이 즉시 검증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35040" y="2295144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△  SECRET 동기화 필수 — 변경 시 양쪽 재배포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54680" y="2331720"/>
            <a:ext cx="9144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5989320" y="2331720"/>
            <a:ext cx="9144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118104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118104"/>
            <a:ext cx="36576" cy="7772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1729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Nginx 단일 진입점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3191256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✓  CORS 없음, SSL 한 곳 관리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35040" y="3191256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△  Nginx 장애 시 전체 영향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54680" y="3227832"/>
            <a:ext cx="9144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Shape 25"/>
          <p:cNvSpPr/>
          <p:nvPr/>
        </p:nvSpPr>
        <p:spPr>
          <a:xfrm>
            <a:off x="5989320" y="3227832"/>
            <a:ext cx="9144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4014216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014216"/>
            <a:ext cx="36576" cy="7772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4069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SQLModel vs JPA 분리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0" y="408736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✓  orchestrator: 스키마 자동 생성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035040" y="408736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△  platform: validate 모드로 안전성 보장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154680" y="4123944"/>
            <a:ext cx="9144" cy="5486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Shape 32"/>
          <p:cNvSpPr/>
          <p:nvPr/>
        </p:nvSpPr>
        <p:spPr>
          <a:xfrm>
            <a:off x="5989320" y="4123944"/>
            <a:ext cx="9144" cy="548640"/>
          </a:xfrm>
          <a:prstGeom prst="rect">
            <a:avLst/>
          </a:prstGeom>
          <a:solidFill>
            <a:srgbClr val="E2E8F0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212848"/>
            <a:ext cx="7132320" cy="274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5915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·  3개 서비스 (Spring Boot · FastAPI · Next.js) + Nginx 단일 진입점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·  pgvector 기반 RAG · LangGraph 에이전트 · 채팅 아티팩트 (데이터+뷰 저장 &amp; URL 공유)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2724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·  외부 고객사에 Claude for Work형 AI 어시스턴트 서비스 제공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511296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·  토큰 사용량 서비스·모델별 실시간 집계 — 관리자 대시보드 제공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895344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·  채팅 앱 (미구현) — 고객사 임직원용 별도 프론트엔드 개발 예정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27939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, Arial" pitchFamily="34" charset="0"/>
                <a:ea typeface="Malgun Gothic, Arial" pitchFamily="34" charset="-122"/>
                <a:cs typeface="Malgun Gothic, Arial" pitchFamily="34" charset="-120"/>
              </a:rPr>
              <a:t>·  Docker Compose → Kubernetes 단계적 확장 · Prometheus + Langfuse 관찰가능성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2026-09-06T10:02:20Z</dcterms:created>
  <dcterms:modified xsi:type="dcterms:W3CDTF">2026-09-06T10:02:20Z</dcterms:modified>
</cp:coreProperties>
</file>